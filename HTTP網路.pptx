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773" r:id="rId2"/>
    <p:sldId id="776" r:id="rId3"/>
    <p:sldId id="777" r:id="rId4"/>
    <p:sldId id="809" r:id="rId5"/>
    <p:sldId id="810" r:id="rId6"/>
    <p:sldId id="811" r:id="rId7"/>
    <p:sldId id="813" r:id="rId8"/>
    <p:sldId id="814" r:id="rId9"/>
    <p:sldId id="848" r:id="rId10"/>
    <p:sldId id="815" r:id="rId11"/>
    <p:sldId id="849" r:id="rId12"/>
    <p:sldId id="812" r:id="rId13"/>
    <p:sldId id="81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080"/>
    <a:srgbClr val="23A8AF"/>
    <a:srgbClr val="6EB5AF"/>
    <a:srgbClr val="33CCCC"/>
    <a:srgbClr val="920784"/>
    <a:srgbClr val="2817A9"/>
    <a:srgbClr val="C67A48"/>
    <a:srgbClr val="786CAE"/>
    <a:srgbClr val="8FC320"/>
    <a:srgbClr val="B5D1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7" autoAdjust="0"/>
    <p:restoredTop sz="98058" autoAdjust="0"/>
  </p:normalViewPr>
  <p:slideViewPr>
    <p:cSldViewPr>
      <p:cViewPr varScale="1">
        <p:scale>
          <a:sx n="116" d="100"/>
          <a:sy n="116" d="100"/>
        </p:scale>
        <p:origin x="145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1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12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DA890-1C3A-4168-9336-7569BD13438D}" type="datetimeFigureOut">
              <a:rPr lang="zh-TW" altLang="en-US" smtClean="0"/>
              <a:pPr/>
              <a:t>2026/5/5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C2F1F-D428-449F-967A-F29989CFB9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969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1CE91-3D51-440C-AE01-BB26464EA3B2}" type="datetimeFigureOut">
              <a:rPr lang="zh-TW" altLang="en-US" smtClean="0"/>
              <a:pPr/>
              <a:t>2026/5/5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B05A9-B499-4E5B-8BFF-1B523649516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237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書名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章名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9"/>
          <p:cNvSpPr>
            <a:spLocks noGrp="1"/>
          </p:cNvSpPr>
          <p:nvPr>
            <p:ph type="body" sz="quarter" idx="17"/>
          </p:nvPr>
        </p:nvSpPr>
        <p:spPr>
          <a:xfrm>
            <a:off x="971600" y="3529887"/>
            <a:ext cx="8000486" cy="1143008"/>
          </a:xfrm>
          <a:noFill/>
          <a:ln w="12700" cap="rnd">
            <a:noFill/>
            <a:round/>
          </a:ln>
          <a:effectLst/>
        </p:spPr>
        <p:txBody>
          <a:bodyPr lIns="0" tIns="0" rIns="0" bIns="0" numCol="2" anchor="ctr" anchorCtr="0">
            <a:noAutofit/>
          </a:bodyPr>
          <a:lstStyle>
            <a:lvl1pPr>
              <a:lnSpc>
                <a:spcPts val="2400"/>
              </a:lnSpc>
              <a:spcBef>
                <a:spcPts val="500"/>
              </a:spcBef>
              <a:defRPr kumimoji="0" lang="zh-TW" altLang="en-US" sz="2000" b="1" u="none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j-ea"/>
                <a:cs typeface="+mn-cs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5" name="文字版面配置區 13"/>
          <p:cNvSpPr>
            <a:spLocks noGrp="1"/>
          </p:cNvSpPr>
          <p:nvPr>
            <p:ph type="body" sz="quarter" idx="15" hasCustomPrompt="1"/>
          </p:nvPr>
        </p:nvSpPr>
        <p:spPr>
          <a:xfrm>
            <a:off x="971600" y="2636912"/>
            <a:ext cx="7786742" cy="714380"/>
          </a:xfrm>
          <a:effectLst/>
        </p:spPr>
        <p:txBody>
          <a:bodyPr anchor="ctr" anchorCtr="0">
            <a:noAutofit/>
          </a:bodyPr>
          <a:lstStyle>
            <a:lvl1pPr algn="l">
              <a:lnSpc>
                <a:spcPts val="4800"/>
              </a:lnSpc>
              <a:spcBef>
                <a:spcPts val="0"/>
              </a:spcBef>
              <a:defRPr sz="4400" b="1" u="none" cap="none" spc="0" baseline="0">
                <a:ln w="15875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lvl="0"/>
            <a:r>
              <a:rPr lang="zh-TW" altLang="en-US" dirty="0"/>
              <a:t>按一以輯母片文字樣式</a:t>
            </a:r>
          </a:p>
        </p:txBody>
      </p:sp>
      <p:sp>
        <p:nvSpPr>
          <p:cNvPr id="11" name="矩形 10"/>
          <p:cNvSpPr/>
          <p:nvPr userDrawn="1"/>
        </p:nvSpPr>
        <p:spPr>
          <a:xfrm flipV="1">
            <a:off x="71470" y="2344890"/>
            <a:ext cx="9000000" cy="3513002"/>
          </a:xfrm>
          <a:prstGeom prst="rect">
            <a:avLst/>
          </a:prstGeom>
          <a:noFill/>
          <a:ln w="76200">
            <a:solidFill>
              <a:srgbClr val="219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 userDrawn="1"/>
        </p:nvSpPr>
        <p:spPr>
          <a:xfrm flipV="1">
            <a:off x="755576" y="2056890"/>
            <a:ext cx="2357454" cy="288000"/>
          </a:xfrm>
          <a:prstGeom prst="rect">
            <a:avLst/>
          </a:prstGeom>
          <a:solidFill>
            <a:srgbClr val="219080"/>
          </a:solidFill>
          <a:ln w="38100">
            <a:solidFill>
              <a:srgbClr val="219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14"/>
          </p:nvPr>
        </p:nvSpPr>
        <p:spPr>
          <a:xfrm>
            <a:off x="1052198" y="1557362"/>
            <a:ext cx="1800200" cy="863526"/>
          </a:xfrm>
        </p:spPr>
        <p:txBody>
          <a:bodyPr anchor="ctr" anchorCtr="0">
            <a:noAutofit/>
          </a:bodyPr>
          <a:lstStyle>
            <a:lvl1pPr>
              <a:lnSpc>
                <a:spcPts val="4800"/>
              </a:lnSpc>
              <a:spcBef>
                <a:spcPts val="0"/>
              </a:spcBef>
              <a:defRPr sz="10000" b="1" u="none" cap="none" spc="0" baseline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defRPr>
            </a:lvl1pPr>
          </a:lstStyle>
          <a:p>
            <a:pPr lvl="0"/>
            <a:r>
              <a:rPr lang="zh-TW" altLang="en-US" dirty="0"/>
              <a:t>按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XX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431999" y="1364512"/>
            <a:ext cx="8280000" cy="5160832"/>
          </a:xfrm>
        </p:spPr>
        <p:txBody>
          <a:bodyPr/>
          <a:lstStyle>
            <a:lvl1pPr>
              <a:defRPr sz="28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-457200">
              <a:buClrTx/>
              <a:buSzPct val="100000"/>
              <a:buFont typeface="+mj-ea"/>
              <a:buAutoNum type="ea1ChtPeriod"/>
              <a:defRPr kumimoji="0" lang="zh-TW" altLang="en-US" sz="2000" b="1" u="none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457200" indent="-457200">
              <a:buClrTx/>
              <a:buSzPct val="100000"/>
              <a:buFont typeface="+mj-lt"/>
              <a:buAutoNum type="arabicPeriod"/>
              <a:defRPr kumimoji="0" lang="zh-TW" altLang="en-US" sz="2000" b="0" u="none" kern="1200" baseline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>
              <a:lnSpc>
                <a:spcPts val="2800"/>
              </a:lnSpc>
              <a:spcAft>
                <a:spcPts val="200"/>
              </a:spcAft>
              <a:defRPr sz="2000"/>
            </a:lvl4pPr>
            <a:lvl5pPr>
              <a:lnSpc>
                <a:spcPts val="2800"/>
              </a:lnSpc>
              <a:defRPr sz="20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8286776" y="6126954"/>
            <a:ext cx="579124" cy="646331"/>
            <a:chOff x="8286776" y="6126954"/>
            <a:chExt cx="579124" cy="646331"/>
          </a:xfrm>
        </p:grpSpPr>
        <p:sp>
          <p:nvSpPr>
            <p:cNvPr id="4" name="橢圓形圖說文字 3"/>
            <p:cNvSpPr/>
            <p:nvPr/>
          </p:nvSpPr>
          <p:spPr>
            <a:xfrm flipH="1">
              <a:off x="8286776" y="6160557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solidFill>
              <a:srgbClr val="23A8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B5D14F"/>
                </a:solidFill>
              </a:endParaRPr>
            </a:p>
          </p:txBody>
        </p:sp>
        <p:sp>
          <p:nvSpPr>
            <p:cNvPr id="6" name="文字方塊 5">
              <a:hlinkClick r:id="rId2" action="ppaction://hlinksldjump"/>
            </p:cNvPr>
            <p:cNvSpPr txBox="1"/>
            <p:nvPr/>
          </p:nvSpPr>
          <p:spPr>
            <a:xfrm>
              <a:off x="8327600" y="6126954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回</a:t>
              </a:r>
              <a:endParaRPr lang="en-US" altLang="zh-TW" sz="2400" b="1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首頁</a:t>
              </a:r>
            </a:p>
          </p:txBody>
        </p:sp>
      </p:grpSp>
      <p:sp>
        <p:nvSpPr>
          <p:cNvPr id="8" name="標題版面配置區 21"/>
          <p:cNvSpPr>
            <a:spLocks noGrp="1"/>
          </p:cNvSpPr>
          <p:nvPr>
            <p:ph type="title"/>
          </p:nvPr>
        </p:nvSpPr>
        <p:spPr>
          <a:xfrm>
            <a:off x="422936" y="764704"/>
            <a:ext cx="8325528" cy="576064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57054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431999" y="741600"/>
            <a:ext cx="8280000" cy="5760000"/>
          </a:xfrm>
        </p:spPr>
        <p:txBody>
          <a:bodyPr/>
          <a:lstStyle>
            <a:lvl1pPr>
              <a:defRPr sz="28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-457200">
              <a:buClrTx/>
              <a:buSzPct val="100000"/>
              <a:buFont typeface="+mj-ea"/>
              <a:buAutoNum type="ea1ChtPeriod"/>
              <a:defRPr kumimoji="0" lang="zh-TW" altLang="en-US" sz="2000" b="1" u="none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457200" indent="-457200">
              <a:buClrTx/>
              <a:buSzPct val="100000"/>
              <a:buFont typeface="+mj-lt"/>
              <a:buAutoNum type="arabicPeriod"/>
              <a:defRPr kumimoji="0" lang="zh-TW" altLang="en-US" sz="2000" b="0" u="none" kern="1200" baseline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>
              <a:lnSpc>
                <a:spcPts val="2800"/>
              </a:lnSpc>
              <a:spcAft>
                <a:spcPts val="200"/>
              </a:spcAft>
              <a:defRPr sz="2000"/>
            </a:lvl4pPr>
            <a:lvl5pPr>
              <a:lnSpc>
                <a:spcPts val="2800"/>
              </a:lnSpc>
              <a:defRPr sz="20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8227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431999" y="741600"/>
            <a:ext cx="8280000" cy="576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>
              <a:defRPr kumimoji="0" lang="zh-TW" altLang="en-US" sz="2500" b="1" u="dottedHeavy" kern="1200" baseline="0" dirty="0" smtClean="0">
                <a:solidFill>
                  <a:srgbClr val="C67A48"/>
                </a:solidFill>
                <a:latin typeface="+mj-ea"/>
                <a:ea typeface="+mj-ea"/>
                <a:cs typeface="+mn-cs"/>
              </a:defRPr>
            </a:lvl3pPr>
            <a:lvl4pPr>
              <a:spcAft>
                <a:spcPts val="200"/>
              </a:spcAft>
              <a:defRPr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8286776" y="6160557"/>
            <a:ext cx="579124" cy="652819"/>
            <a:chOff x="8286776" y="6160557"/>
            <a:chExt cx="579124" cy="652819"/>
          </a:xfrm>
        </p:grpSpPr>
        <p:sp>
          <p:nvSpPr>
            <p:cNvPr id="4" name="橢圓形圖說文字 3"/>
            <p:cNvSpPr/>
            <p:nvPr/>
          </p:nvSpPr>
          <p:spPr>
            <a:xfrm flipH="1">
              <a:off x="8286776" y="6160557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solidFill>
              <a:srgbClr val="786CAE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B5D14F"/>
                </a:solidFill>
              </a:endParaRPr>
            </a:p>
          </p:txBody>
        </p:sp>
        <p:sp>
          <p:nvSpPr>
            <p:cNvPr id="6" name="文字方塊 5">
              <a:hlinkClick r:id="rId2" action="ppaction://hlinksldjump"/>
            </p:cNvPr>
            <p:cNvSpPr txBox="1"/>
            <p:nvPr/>
          </p:nvSpPr>
          <p:spPr>
            <a:xfrm>
              <a:off x="8327600" y="6167045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回</a:t>
              </a:r>
              <a:endParaRPr lang="en-US" altLang="zh-TW" sz="2400" b="1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首頁</a:t>
              </a: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2000" y="1100834"/>
            <a:ext cx="8280000" cy="540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>
              <a:defRPr>
                <a:solidFill>
                  <a:srgbClr val="C67A48"/>
                </a:solidFill>
              </a:defRPr>
            </a:lvl3pPr>
            <a:lvl4pPr>
              <a:spcAft>
                <a:spcPts val="200"/>
              </a:spcAft>
              <a:defRPr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文字_雙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1999" y="648000"/>
            <a:ext cx="4067993" cy="576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4572000" y="648000"/>
            <a:ext cx="3960812" cy="576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文字_雙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2000" y="1007999"/>
            <a:ext cx="4067992" cy="540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4572000" y="1008000"/>
            <a:ext cx="3960000" cy="540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範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539750" y="1268072"/>
            <a:ext cx="8064500" cy="1728880"/>
          </a:xfrm>
          <a:ln w="19050" cmpd="sng">
            <a:gradFill>
              <a:gsLst>
                <a:gs pos="0">
                  <a:schemeClr val="bg1"/>
                </a:gs>
                <a:gs pos="68000">
                  <a:srgbClr val="EB5405"/>
                </a:gs>
                <a:gs pos="100000">
                  <a:srgbClr val="EB5405"/>
                </a:gs>
              </a:gsLst>
              <a:lin ang="4200000" scaled="0"/>
            </a:gradFill>
          </a:ln>
        </p:spPr>
        <p:txBody>
          <a:bodyPr wrap="square" lIns="252000" tIns="360000" rIns="180000" bIns="72000">
            <a:noAutofit/>
          </a:bodyPr>
          <a:lstStyle>
            <a:lvl1pPr>
              <a:lnSpc>
                <a:spcPts val="2400"/>
              </a:lnSpc>
              <a:spcBef>
                <a:spcPts val="600"/>
              </a:spcBef>
              <a:defRPr sz="1800" b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文字版面配置區 8"/>
          <p:cNvSpPr>
            <a:spLocks noGrp="1"/>
          </p:cNvSpPr>
          <p:nvPr>
            <p:ph type="body" sz="quarter" idx="12"/>
          </p:nvPr>
        </p:nvSpPr>
        <p:spPr>
          <a:xfrm>
            <a:off x="467544" y="987970"/>
            <a:ext cx="4383998" cy="488201"/>
          </a:xfrm>
          <a:gradFill flip="none" rotWithShape="1">
            <a:gsLst>
              <a:gs pos="0">
                <a:schemeClr val="bg1"/>
              </a:gs>
              <a:gs pos="50000">
                <a:srgbClr val="EB5405"/>
              </a:gs>
              <a:gs pos="100000">
                <a:schemeClr val="accent6"/>
              </a:gs>
            </a:gsLst>
            <a:lin ang="14400000" scaled="0"/>
            <a:tileRect/>
          </a:gra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wrap="none" lIns="180000" tIns="72000" rIns="5400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u="none" baseline="0">
                <a:solidFill>
                  <a:schemeClr val="bg1"/>
                </a:solidFill>
                <a:latin typeface="Arial Black" pitchFamily="34" charset="0"/>
                <a:ea typeface="+mj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圖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539750" y="1484784"/>
            <a:ext cx="8064500" cy="3036931"/>
          </a:xfrm>
          <a:ln w="19050" cmpd="sng">
            <a:gradFill>
              <a:gsLst>
                <a:gs pos="0">
                  <a:schemeClr val="bg1"/>
                </a:gs>
                <a:gs pos="68000">
                  <a:srgbClr val="BE2856"/>
                </a:gs>
                <a:gs pos="100000">
                  <a:srgbClr val="3D3B5F"/>
                </a:gs>
              </a:gsLst>
              <a:lin ang="4200000" scaled="0"/>
            </a:gradFill>
          </a:ln>
        </p:spPr>
        <p:txBody>
          <a:bodyPr lIns="252000" tIns="360000" rIns="180000" bIns="72000">
            <a:spAutoFit/>
          </a:bodyPr>
          <a:lstStyle>
            <a:lvl1pPr>
              <a:lnSpc>
                <a:spcPts val="2400"/>
              </a:lnSpc>
              <a:defRPr sz="2200" b="0">
                <a:solidFill>
                  <a:schemeClr val="tx1"/>
                </a:solidFill>
              </a:defRPr>
            </a:lvl1pPr>
            <a:lvl2pPr>
              <a:defRPr>
                <a:solidFill>
                  <a:srgbClr val="8FC32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5pPr>
              <a:buClr>
                <a:srgbClr val="B5D14F"/>
              </a:buClr>
              <a:buFont typeface="Wingdings" pitchFamily="2" charset="2"/>
              <a:buChar char="n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zh-TW" altLang="en-US" dirty="0"/>
          </a:p>
        </p:txBody>
      </p:sp>
      <p:sp>
        <p:nvSpPr>
          <p:cNvPr id="6" name="文字版面配置區 8"/>
          <p:cNvSpPr>
            <a:spLocks noGrp="1"/>
          </p:cNvSpPr>
          <p:nvPr>
            <p:ph type="body" sz="quarter" idx="12"/>
          </p:nvPr>
        </p:nvSpPr>
        <p:spPr>
          <a:xfrm>
            <a:off x="467544" y="1196753"/>
            <a:ext cx="4680520" cy="504056"/>
          </a:xfrm>
          <a:gradFill flip="none" rotWithShape="1">
            <a:gsLst>
              <a:gs pos="0">
                <a:schemeClr val="bg1"/>
              </a:gs>
              <a:gs pos="50000">
                <a:srgbClr val="BE2856"/>
              </a:gs>
              <a:gs pos="100000">
                <a:srgbClr val="3D3B5F"/>
              </a:gs>
            </a:gsLst>
            <a:lin ang="14400000" scaled="0"/>
            <a:tileRect/>
          </a:gra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lIns="180000" tIns="72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i="0" u="none" baseline="0">
                <a:solidFill>
                  <a:schemeClr val="bg1"/>
                </a:solidFill>
                <a:latin typeface="Arial Black" pitchFamily="34" charset="0"/>
                <a:ea typeface="+mj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grpSp>
        <p:nvGrpSpPr>
          <p:cNvPr id="17" name="群組 16"/>
          <p:cNvGrpSpPr/>
          <p:nvPr userDrawn="1"/>
        </p:nvGrpSpPr>
        <p:grpSpPr>
          <a:xfrm>
            <a:off x="642412" y="6200929"/>
            <a:ext cx="1049268" cy="503533"/>
            <a:chOff x="899592" y="6237835"/>
            <a:chExt cx="1049268" cy="503533"/>
          </a:xfrm>
        </p:grpSpPr>
        <p:sp>
          <p:nvSpPr>
            <p:cNvPr id="18" name="弧形向右箭號 17"/>
            <p:cNvSpPr/>
            <p:nvPr/>
          </p:nvSpPr>
          <p:spPr>
            <a:xfrm rot="612716">
              <a:off x="899592" y="6237835"/>
              <a:ext cx="440592" cy="503533"/>
            </a:xfrm>
            <a:prstGeom prst="curvedRightArrow">
              <a:avLst/>
            </a:prstGeom>
            <a:gradFill>
              <a:gsLst>
                <a:gs pos="0">
                  <a:schemeClr val="bg1"/>
                </a:gs>
                <a:gs pos="50000">
                  <a:srgbClr val="BE2856"/>
                </a:gs>
                <a:gs pos="100000">
                  <a:srgbClr val="3D3B5F"/>
                </a:gs>
              </a:gsLst>
              <a:lin ang="3600000" scaled="0"/>
            </a:gradFill>
            <a:ln w="95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940748" y="6304512"/>
              <a:ext cx="1008112" cy="30777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>
                  <a:solidFill>
                    <a:srgbClr val="3D3B5F"/>
                  </a:solidFill>
                </a:rPr>
                <a:t>續下頁</a:t>
              </a:r>
            </a:p>
          </p:txBody>
        </p:sp>
      </p:grpSp>
      <p:cxnSp>
        <p:nvCxnSpPr>
          <p:cNvPr id="8" name="直線單箭頭接點 7"/>
          <p:cNvCxnSpPr/>
          <p:nvPr userDrawn="1"/>
        </p:nvCxnSpPr>
        <p:spPr>
          <a:xfrm>
            <a:off x="1979712" y="6021288"/>
            <a:ext cx="360040" cy="648072"/>
          </a:xfrm>
          <a:prstGeom prst="straightConnector1">
            <a:avLst/>
          </a:prstGeom>
          <a:ln>
            <a:solidFill>
              <a:srgbClr val="BE2856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 userDrawn="1"/>
        </p:nvCxnSpPr>
        <p:spPr>
          <a:xfrm>
            <a:off x="2627784" y="6237312"/>
            <a:ext cx="2232248" cy="0"/>
          </a:xfrm>
          <a:prstGeom prst="line">
            <a:avLst/>
          </a:prstGeom>
          <a:ln w="38100" cmpd="sng">
            <a:solidFill>
              <a:srgbClr val="BE28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5292080" y="5949280"/>
            <a:ext cx="360040" cy="432048"/>
          </a:xfrm>
          <a:prstGeom prst="rect">
            <a:avLst/>
          </a:prstGeom>
          <a:solidFill>
            <a:srgbClr val="4679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68144" y="5949280"/>
            <a:ext cx="360040" cy="432048"/>
          </a:xfrm>
          <a:prstGeom prst="rect">
            <a:avLst/>
          </a:prstGeom>
          <a:solidFill>
            <a:srgbClr val="8F3B8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 userDrawn="1"/>
        </p:nvGrpSpPr>
        <p:grpSpPr>
          <a:xfrm>
            <a:off x="6732240" y="5605200"/>
            <a:ext cx="579124" cy="646331"/>
            <a:chOff x="6732240" y="5605200"/>
            <a:chExt cx="579124" cy="646331"/>
          </a:xfrm>
          <a:solidFill>
            <a:srgbClr val="8FC320"/>
          </a:solidFill>
        </p:grpSpPr>
        <p:sp>
          <p:nvSpPr>
            <p:cNvPr id="12" name="橢圓形圖說文字 11"/>
            <p:cNvSpPr/>
            <p:nvPr userDrawn="1"/>
          </p:nvSpPr>
          <p:spPr>
            <a:xfrm flipH="1">
              <a:off x="6732240" y="5622113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B5D14F"/>
                </a:solidFill>
              </a:endParaRPr>
            </a:p>
          </p:txBody>
        </p:sp>
        <p:sp>
          <p:nvSpPr>
            <p:cNvPr id="13" name="文字方塊 12"/>
            <p:cNvSpPr txBox="1"/>
            <p:nvPr userDrawn="1"/>
          </p:nvSpPr>
          <p:spPr>
            <a:xfrm>
              <a:off x="6778800" y="5605200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bg2"/>
                  </a:solidFill>
                </a:rPr>
                <a:t>回</a:t>
              </a:r>
              <a:endParaRPr lang="en-US" altLang="zh-TW" sz="2400" b="1" dirty="0">
                <a:solidFill>
                  <a:schemeClr val="bg2"/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bg2"/>
                  </a:solidFill>
                </a:rPr>
                <a:t>首頁</a:t>
              </a:r>
            </a:p>
          </p:txBody>
        </p:sp>
      </p:grpSp>
      <p:sp>
        <p:nvSpPr>
          <p:cNvPr id="20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7668344" y="6021288"/>
            <a:ext cx="1249200" cy="468000"/>
          </a:xfrm>
          <a:gradFill>
            <a:gsLst>
              <a:gs pos="0">
                <a:schemeClr val="bg1"/>
              </a:gs>
              <a:gs pos="50000">
                <a:srgbClr val="BE2856"/>
              </a:gs>
              <a:gs pos="100000">
                <a:srgbClr val="3D3B5F"/>
              </a:gs>
            </a:gsLst>
            <a:lin ang="3600000" scaled="0"/>
          </a:gradFill>
          <a:ln>
            <a:solidFill>
              <a:schemeClr val="bg1"/>
            </a:solidFill>
          </a:ln>
          <a:effectLst>
            <a:outerShdw blurRad="25400" dist="12700" dir="13500000" algn="br" rotWithShape="0">
              <a:prstClr val="black">
                <a:alpha val="40000"/>
              </a:prstClr>
            </a:outerShdw>
          </a:effectLst>
        </p:spPr>
        <p:txBody>
          <a:bodyPr lIns="90000" tIns="0">
            <a:noAutofit/>
          </a:bodyPr>
          <a:lstStyle>
            <a:lvl1pPr algn="r"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 dirty="0"/>
              <a:t>按一下以編輯母片文字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609600" y="836712"/>
            <a:ext cx="8153400" cy="57606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612648" y="1484784"/>
            <a:ext cx="8153400" cy="452628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/>
              <a:t>第二層</a:t>
            </a:r>
          </a:p>
          <a:p>
            <a:pPr lvl="2" eaLnBrk="1" latinLnBrk="0" hangingPunct="1"/>
            <a:r>
              <a:rPr kumimoji="0" lang="zh-TW" altLang="en-US" dirty="0"/>
              <a:t>第三層</a:t>
            </a:r>
          </a:p>
          <a:p>
            <a:pPr lvl="3" eaLnBrk="1" latinLnBrk="0" hangingPunct="1"/>
            <a:r>
              <a:rPr kumimoji="0" lang="zh-TW" altLang="en-US" dirty="0"/>
              <a:t>第四層</a:t>
            </a:r>
            <a:endParaRPr kumimoji="0" lang="en-US" altLang="zh-TW" dirty="0"/>
          </a:p>
          <a:p>
            <a:pPr lvl="4" eaLnBrk="1" latinLnBrk="0" hangingPunct="1"/>
            <a:r>
              <a:rPr kumimoji="0" lang="zh-TW" altLang="en-US" dirty="0"/>
              <a:t>第五層</a:t>
            </a:r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6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8" r:id="rId2"/>
    <p:sldLayoutId id="2147483694" r:id="rId3"/>
    <p:sldLayoutId id="2147483693" r:id="rId4"/>
    <p:sldLayoutId id="2147483682" r:id="rId5"/>
    <p:sldLayoutId id="2147483677" r:id="rId6"/>
    <p:sldLayoutId id="2147483691" r:id="rId7"/>
    <p:sldLayoutId id="2147483692" r:id="rId8"/>
    <p:sldLayoutId id="2147483684" r:id="rId9"/>
    <p:sldLayoutId id="2147483690" r:id="rId10"/>
  </p:sldLayoutIdLst>
  <p:txStyles>
    <p:titleStyle>
      <a:lvl1pPr marL="216000" indent="-216000" algn="l" rtl="0" eaLnBrk="1" latinLnBrk="0" hangingPunct="1">
        <a:lnSpc>
          <a:spcPts val="3400"/>
        </a:lnSpc>
        <a:spcBef>
          <a:spcPct val="0"/>
        </a:spcBef>
        <a:buSzPct val="80000"/>
        <a:buFontTx/>
        <a:buNone/>
        <a:defRPr kumimoji="0" sz="3200" b="1" u="none" kern="1200" baseline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j-ea"/>
          <a:cs typeface="+mj-cs"/>
        </a:defRPr>
      </a:lvl1pPr>
    </p:titleStyle>
    <p:bodyStyle>
      <a:lvl1pPr marL="0" indent="0" algn="l" rtl="0" eaLnBrk="1" latinLnBrk="0" hangingPunct="1">
        <a:lnSpc>
          <a:spcPct val="150000"/>
        </a:lnSpc>
        <a:spcBef>
          <a:spcPts val="0"/>
        </a:spcBef>
        <a:buClr>
          <a:schemeClr val="accent3">
            <a:lumMod val="75000"/>
          </a:schemeClr>
        </a:buClr>
        <a:buSzPct val="100000"/>
        <a:buFontTx/>
        <a:buNone/>
        <a:defRPr kumimoji="0" sz="3200" b="1" u="none" kern="1200" baseline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j-ea"/>
          <a:cs typeface="+mn-cs"/>
        </a:defRPr>
      </a:lvl1pPr>
      <a:lvl2pPr marL="0" indent="0" algn="l" rtl="0" eaLnBrk="1" latinLnBrk="0" hangingPunct="1">
        <a:lnSpc>
          <a:spcPct val="100000"/>
        </a:lnSpc>
        <a:spcBef>
          <a:spcPts val="1200"/>
        </a:spcBef>
        <a:buClr>
          <a:schemeClr val="accent3">
            <a:lumMod val="75000"/>
          </a:schemeClr>
        </a:buClr>
        <a:buSzPct val="90000"/>
        <a:buFontTx/>
        <a:buNone/>
        <a:defRPr kumimoji="0" sz="2800" b="1" kern="1200">
          <a:solidFill>
            <a:srgbClr val="8FC320"/>
          </a:solidFill>
          <a:latin typeface="+mj-ea"/>
          <a:ea typeface="+mj-ea"/>
          <a:cs typeface="+mn-cs"/>
        </a:defRPr>
      </a:lvl2pPr>
      <a:lvl3pPr marL="360000" indent="-360000" algn="l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rgbClr val="AE2A7F"/>
        </a:buClr>
        <a:buSzPct val="90000"/>
        <a:buFontTx/>
        <a:buNone/>
        <a:defRPr kumimoji="0" sz="2500" b="1" u="dottedHeavy" kern="1200" baseline="0">
          <a:solidFill>
            <a:srgbClr val="C67A48"/>
          </a:solidFill>
          <a:latin typeface="+mj-ea"/>
          <a:ea typeface="+mj-ea"/>
          <a:cs typeface="+mn-cs"/>
        </a:defRPr>
      </a:lvl3pPr>
      <a:lvl4pPr marL="0" indent="-288000" algn="l" rtl="0" eaLnBrk="1" latinLnBrk="0" hangingPunct="1">
        <a:lnSpc>
          <a:spcPts val="2800"/>
        </a:lnSpc>
        <a:spcBef>
          <a:spcPts val="800"/>
        </a:spcBef>
        <a:spcAft>
          <a:spcPts val="0"/>
        </a:spcAft>
        <a:buClr>
          <a:srgbClr val="AE2A7F"/>
        </a:buClr>
        <a:buSzPct val="90000"/>
        <a:buFontTx/>
        <a:buNone/>
        <a:defRPr kumimoji="0"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360000" marR="0" indent="-342900" algn="l" defTabSz="914400" rtl="0" eaLnBrk="1" fontAlgn="auto" latinLnBrk="0" hangingPunct="1">
        <a:lnSpc>
          <a:spcPts val="2800"/>
        </a:lnSpc>
        <a:spcBef>
          <a:spcPts val="600"/>
        </a:spcBef>
        <a:spcAft>
          <a:spcPts val="0"/>
        </a:spcAft>
        <a:buClrTx/>
        <a:buSzPct val="100000"/>
        <a:buFont typeface="+mj-lt"/>
        <a:buAutoNum type="arabicPeriod"/>
        <a:tabLst/>
        <a:defRPr kumimoji="0" sz="1800" b="0" kern="1200">
          <a:solidFill>
            <a:schemeClr val="tx1"/>
          </a:solidFill>
          <a:latin typeface="+mj-ea"/>
          <a:ea typeface="+mj-ea"/>
          <a:cs typeface="+mn-cs"/>
        </a:defRPr>
      </a:lvl5pPr>
      <a:lvl6pPr marL="360000" indent="-342000" algn="l" rtl="0" eaLnBrk="1" latinLnBrk="0" hangingPunct="1">
        <a:lnSpc>
          <a:spcPct val="100000"/>
        </a:lnSpc>
        <a:spcBef>
          <a:spcPts val="600"/>
        </a:spcBef>
        <a:buClr>
          <a:srgbClr val="C67A48"/>
        </a:buClr>
        <a:buFont typeface="Wingdings" pitchFamily="2" charset="2"/>
        <a:buChar char="n"/>
        <a:defRPr kumimoji="0" sz="1800" kern="1200" baseline="0">
          <a:solidFill>
            <a:schemeClr val="tx1"/>
          </a:solidFill>
          <a:latin typeface="+mn-ea"/>
          <a:ea typeface="+mn-ea"/>
          <a:cs typeface="+mn-cs"/>
        </a:defRPr>
      </a:lvl6pPr>
      <a:lvl7pPr marL="936000" indent="-228600" algn="l" rtl="0" eaLnBrk="1" latinLnBrk="0" hangingPunct="1">
        <a:spcBef>
          <a:spcPts val="600"/>
        </a:spcBef>
        <a:buClrTx/>
        <a:buFont typeface="Wingdings" pitchFamily="2" charset="2"/>
        <a:buChar char="n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>
          <a:xfrm>
            <a:off x="971600" y="2636912"/>
            <a:ext cx="8064896" cy="714380"/>
          </a:xfrm>
        </p:spPr>
        <p:txBody>
          <a:bodyPr/>
          <a:lstStyle/>
          <a:p>
            <a:r>
              <a:rPr lang="en-US" altLang="zh-TW" dirty="0"/>
              <a:t>HTTP </a:t>
            </a:r>
            <a:r>
              <a:rPr lang="zh-TW" altLang="en-US" dirty="0"/>
              <a:t>物聯網互動設計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/>
              <a:t>13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A072D429-1F0D-BAF0-8D83-1D9D67C5A7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TW" dirty="0">
                <a:hlinkClick r:id="rId2" action="ppaction://hlinksldjump"/>
              </a:rPr>
              <a:t>13-1 </a:t>
            </a:r>
            <a:r>
              <a:rPr lang="zh-TW" altLang="en-US" dirty="0">
                <a:hlinkClick r:id="rId2" action="ppaction://hlinksldjump"/>
              </a:rPr>
              <a:t>認識電腦網路</a:t>
            </a:r>
            <a:endParaRPr lang="zh-TW" altLang="en-US" dirty="0"/>
          </a:p>
          <a:p>
            <a:r>
              <a:rPr lang="en-US" altLang="zh-TW" dirty="0">
                <a:hlinkClick r:id="rId3" action="ppaction://hlinksldjump"/>
              </a:rPr>
              <a:t>13-2 TCP / IP </a:t>
            </a:r>
            <a:r>
              <a:rPr lang="zh-TW" altLang="en-US" dirty="0">
                <a:hlinkClick r:id="rId3" action="ppaction://hlinksldjump"/>
              </a:rPr>
              <a:t>四層模型</a:t>
            </a:r>
            <a:endParaRPr lang="en-US" altLang="zh-TW" dirty="0"/>
          </a:p>
          <a:p>
            <a:endParaRPr lang="zh-TW" altLang="en-US" dirty="0"/>
          </a:p>
          <a:p>
            <a:r>
              <a:rPr lang="en-US" altLang="zh-TW" dirty="0">
                <a:hlinkClick r:id="" action="ppaction://noaction"/>
              </a:rPr>
              <a:t>13-3 </a:t>
            </a:r>
            <a:r>
              <a:rPr lang="zh-TW" altLang="en-US" dirty="0">
                <a:hlinkClick r:id="" action="ppaction://noaction"/>
              </a:rPr>
              <a:t>函式說明</a:t>
            </a:r>
            <a:endParaRPr lang="zh-TW" altLang="en-US" dirty="0"/>
          </a:p>
          <a:p>
            <a:r>
              <a:rPr lang="en-US" altLang="zh-TW" dirty="0">
                <a:hlinkClick r:id="" action="ppaction://noaction"/>
              </a:rPr>
              <a:t>13-4 </a:t>
            </a:r>
            <a:r>
              <a:rPr lang="zh-TW" altLang="en-US" dirty="0">
                <a:hlinkClick r:id="" action="ppaction://noaction"/>
              </a:rPr>
              <a:t>網頁與</a:t>
            </a:r>
            <a:r>
              <a:rPr lang="en-US" altLang="zh-TW" dirty="0">
                <a:hlinkClick r:id="" action="ppaction://noaction"/>
              </a:rPr>
              <a:t>HTML</a:t>
            </a:r>
            <a:endParaRPr lang="en-US" altLang="zh-TW" dirty="0"/>
          </a:p>
          <a:p>
            <a:r>
              <a:rPr lang="en-US" altLang="zh-TW" dirty="0">
                <a:hlinkClick r:id="" action="ppaction://noaction"/>
              </a:rPr>
              <a:t>13-5 </a:t>
            </a:r>
            <a:r>
              <a:rPr lang="zh-TW" altLang="en-US" dirty="0">
                <a:hlinkClick r:id="" action="ppaction://noaction"/>
              </a:rPr>
              <a:t>實作練習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0309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D5124D8-F8CA-6D0A-8928-EDD8A452F8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999" y="1364512"/>
            <a:ext cx="8460481" cy="5160832"/>
          </a:xfrm>
        </p:spPr>
        <p:txBody>
          <a:bodyPr/>
          <a:lstStyle/>
          <a:p>
            <a:pPr marL="0" lvl="2" indent="0">
              <a:buNone/>
            </a:pPr>
            <a:r>
              <a:rPr lang="zh-TW" altLang="en-US" dirty="0"/>
              <a:t>所謂電腦網路（</a:t>
            </a:r>
            <a:r>
              <a:rPr lang="en-US" altLang="zh-TW" dirty="0"/>
              <a:t>computer network</a:t>
            </a:r>
            <a:r>
              <a:rPr lang="zh-TW" altLang="en-US" dirty="0"/>
              <a:t>）是指電腦與電腦之間利用纜線連結，以達到資料傳輸及資源共享的目的。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dirty="0"/>
              <a:t>依網路連結的規模大小可以分為區域網路（</a:t>
            </a:r>
            <a:r>
              <a:rPr lang="en-US" altLang="zh-TW" dirty="0"/>
              <a:t>Local Area Network</a:t>
            </a:r>
            <a:r>
              <a:rPr lang="zh-TW" altLang="en-US" dirty="0"/>
              <a:t>，簡稱</a:t>
            </a:r>
            <a:r>
              <a:rPr lang="en-US" altLang="zh-TW" dirty="0"/>
              <a:t>LAN</a:t>
            </a:r>
            <a:r>
              <a:rPr lang="zh-TW" altLang="en-US" dirty="0"/>
              <a:t>）及廣域網路（</a:t>
            </a:r>
            <a:r>
              <a:rPr lang="en-US" altLang="zh-TW" dirty="0"/>
              <a:t>Wide Area Network</a:t>
            </a:r>
            <a:r>
              <a:rPr lang="zh-TW" altLang="en-US" dirty="0"/>
              <a:t>，簡稱</a:t>
            </a:r>
            <a:r>
              <a:rPr lang="en-US" altLang="zh-TW" dirty="0"/>
              <a:t>WAN</a:t>
            </a:r>
            <a:r>
              <a:rPr lang="zh-TW" altLang="en-US" dirty="0"/>
              <a:t>），現今所使用的網際網路（</a:t>
            </a:r>
            <a:r>
              <a:rPr lang="en-US" altLang="zh-TW" dirty="0"/>
              <a:t>Internet</a:t>
            </a:r>
            <a:r>
              <a:rPr lang="zh-TW" altLang="en-US" dirty="0"/>
              <a:t>）即是</a:t>
            </a:r>
            <a:r>
              <a:rPr lang="en-US" altLang="zh-TW" dirty="0"/>
              <a:t>WAN </a:t>
            </a:r>
            <a:r>
              <a:rPr lang="zh-TW" altLang="en-US" dirty="0"/>
              <a:t>的一種應用。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b="1" dirty="0"/>
              <a:t>Wi-Fi </a:t>
            </a:r>
            <a:r>
              <a:rPr lang="zh-TW" altLang="en-US" b="1" dirty="0"/>
              <a:t>使用</a:t>
            </a:r>
            <a:r>
              <a:rPr lang="en-US" altLang="zh-TW" b="1" dirty="0"/>
              <a:t>IEEE 802.11 </a:t>
            </a:r>
            <a:r>
              <a:rPr lang="zh-TW" altLang="en-US" b="1" dirty="0"/>
              <a:t>規範的無線區域網路（</a:t>
            </a:r>
            <a:r>
              <a:rPr lang="en-US" altLang="zh-TW" b="1" dirty="0"/>
              <a:t>Wireless Local Area Network</a:t>
            </a:r>
            <a:r>
              <a:rPr lang="zh-TW" altLang="en-US" b="1" dirty="0"/>
              <a:t>，簡稱</a:t>
            </a:r>
            <a:r>
              <a:rPr lang="en-US" altLang="zh-TW" b="1" dirty="0"/>
              <a:t>WLAN</a:t>
            </a:r>
            <a:r>
              <a:rPr lang="zh-TW" altLang="en-US" b="1" dirty="0"/>
              <a:t>）標準及</a:t>
            </a:r>
            <a:r>
              <a:rPr lang="en-US" altLang="zh-TW" b="1" dirty="0"/>
              <a:t>TCP/IP </a:t>
            </a:r>
            <a:r>
              <a:rPr lang="zh-TW" altLang="en-US" b="1" dirty="0"/>
              <a:t>協定</a:t>
            </a:r>
            <a:r>
              <a:rPr lang="zh-TW" altLang="en-US" dirty="0"/>
              <a:t>，所以在區域網路的設備或裝置，可以透過</a:t>
            </a:r>
            <a:r>
              <a:rPr lang="en-US" altLang="zh-TW" dirty="0"/>
              <a:t>Wi-Fi </a:t>
            </a:r>
            <a:r>
              <a:rPr lang="zh-TW" altLang="en-US" dirty="0"/>
              <a:t>連上網際網路。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4DF6469-0B44-D408-D15F-E0ADD5CA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13-1 </a:t>
            </a:r>
            <a:r>
              <a:rPr lang="zh-TW" altLang="en-US" dirty="0"/>
              <a:t>認識電腦網路</a:t>
            </a:r>
          </a:p>
        </p:txBody>
      </p:sp>
    </p:spTree>
    <p:extLst>
      <p:ext uri="{BB962C8B-B14F-4D97-AF65-F5344CB8AC3E}">
        <p14:creationId xmlns:p14="http://schemas.microsoft.com/office/powerpoint/2010/main" val="1465067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999" y="741600"/>
            <a:ext cx="8244457" cy="5760000"/>
          </a:xfrm>
        </p:spPr>
        <p:txBody>
          <a:bodyPr/>
          <a:lstStyle/>
          <a:p>
            <a:r>
              <a:rPr lang="en-US" altLang="zh-TW" dirty="0"/>
              <a:t>13-1-1 </a:t>
            </a:r>
            <a:r>
              <a:rPr lang="zh-TW" altLang="en-US" dirty="0"/>
              <a:t>區域網路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b="1" dirty="0"/>
              <a:t>私用</a:t>
            </a:r>
            <a:r>
              <a:rPr lang="en-US" altLang="zh-TW" b="1" dirty="0"/>
              <a:t>IP </a:t>
            </a:r>
            <a:r>
              <a:rPr lang="zh-TW" altLang="en-US" b="1" dirty="0"/>
              <a:t>位址只能在區域網路內互連，無法直接連接外部網際網路。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BE16417-48D6-4A6D-ABB8-644883A4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69" y="1916832"/>
            <a:ext cx="6554115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6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999" y="741600"/>
            <a:ext cx="8460481" cy="5760000"/>
          </a:xfrm>
        </p:spPr>
        <p:txBody>
          <a:bodyPr/>
          <a:lstStyle/>
          <a:p>
            <a:r>
              <a:rPr lang="en-US" altLang="zh-TW" dirty="0"/>
              <a:t>13-1-2 IP </a:t>
            </a:r>
            <a:r>
              <a:rPr lang="zh-TW" altLang="en-US" dirty="0"/>
              <a:t>位址</a:t>
            </a:r>
          </a:p>
          <a:p>
            <a:pPr marL="0" lvl="2" indent="0">
              <a:buNone/>
            </a:pPr>
            <a:r>
              <a:rPr lang="en-US" altLang="zh-TW" dirty="0"/>
              <a:t>IP </a:t>
            </a:r>
            <a:r>
              <a:rPr lang="zh-TW" altLang="en-US" dirty="0"/>
              <a:t>位址可以分成私用（</a:t>
            </a:r>
            <a:r>
              <a:rPr lang="en-US" altLang="zh-TW" dirty="0"/>
              <a:t>private</a:t>
            </a:r>
            <a:r>
              <a:rPr lang="zh-TW" altLang="en-US" dirty="0"/>
              <a:t>）</a:t>
            </a:r>
            <a:r>
              <a:rPr lang="en-US" altLang="zh-TW" dirty="0"/>
              <a:t>IP </a:t>
            </a:r>
            <a:r>
              <a:rPr lang="zh-TW" altLang="en-US" dirty="0"/>
              <a:t>位址及公用（</a:t>
            </a:r>
            <a:r>
              <a:rPr lang="en-US" altLang="zh-TW" dirty="0"/>
              <a:t>public</a:t>
            </a:r>
            <a:r>
              <a:rPr lang="zh-TW" altLang="en-US" dirty="0"/>
              <a:t>）</a:t>
            </a:r>
            <a:r>
              <a:rPr lang="en-US" altLang="zh-TW" dirty="0"/>
              <a:t>IP </a:t>
            </a:r>
            <a:r>
              <a:rPr lang="zh-TW" altLang="en-US" dirty="0"/>
              <a:t>位址。</a:t>
            </a:r>
            <a:r>
              <a:rPr lang="zh-TW" altLang="en-US" b="1" dirty="0"/>
              <a:t>公用</a:t>
            </a:r>
            <a:r>
              <a:rPr lang="en-US" altLang="zh-TW" b="1" dirty="0"/>
              <a:t>IP </a:t>
            </a:r>
            <a:r>
              <a:rPr lang="zh-TW" altLang="en-US" b="1" dirty="0"/>
              <a:t>位址又稱為全球</a:t>
            </a:r>
            <a:r>
              <a:rPr lang="en-US" altLang="zh-TW" b="1" dirty="0"/>
              <a:t>IP </a:t>
            </a:r>
            <a:r>
              <a:rPr lang="zh-TW" altLang="en-US" b="1" dirty="0"/>
              <a:t>位址，是網際網路用來識別主機或網路裝置的識別碼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b="1" dirty="0"/>
              <a:t>公用</a:t>
            </a:r>
            <a:r>
              <a:rPr lang="en-US" altLang="zh-TW" b="1" dirty="0"/>
              <a:t>IP </a:t>
            </a:r>
            <a:r>
              <a:rPr lang="zh-TW" altLang="en-US" b="1" dirty="0"/>
              <a:t>位址如同家用電話號碼</a:t>
            </a:r>
            <a:r>
              <a:rPr lang="zh-TW" altLang="en-US" dirty="0"/>
              <a:t>，需要向電信公司申請，每個電話號碼都是唯一不可重覆。</a:t>
            </a:r>
            <a:r>
              <a:rPr lang="zh-TW" altLang="en-US" b="1" dirty="0"/>
              <a:t>私用</a:t>
            </a:r>
            <a:r>
              <a:rPr lang="en-US" altLang="zh-TW" b="1" dirty="0"/>
              <a:t>IP </a:t>
            </a:r>
            <a:r>
              <a:rPr lang="zh-TW" altLang="en-US" b="1" dirty="0"/>
              <a:t>位址如同電話分機</a:t>
            </a:r>
            <a:r>
              <a:rPr lang="zh-TW" altLang="en-US" dirty="0"/>
              <a:t>，是由寬頻分享器分配，不需申請而且隨時可以更改。</a:t>
            </a:r>
          </a:p>
          <a:p>
            <a:r>
              <a:rPr lang="en-US" altLang="zh-TW" dirty="0"/>
              <a:t>13-1-3 IPv4 </a:t>
            </a:r>
            <a:r>
              <a:rPr lang="zh-TW" altLang="en-US" dirty="0"/>
              <a:t>位址及</a:t>
            </a:r>
            <a:r>
              <a:rPr lang="en-US" altLang="zh-TW" dirty="0"/>
              <a:t>IPv6 </a:t>
            </a:r>
            <a:r>
              <a:rPr lang="zh-TW" altLang="en-US" dirty="0"/>
              <a:t>位址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dirty="0"/>
              <a:t>IPv4 </a:t>
            </a:r>
            <a:r>
              <a:rPr lang="zh-TW" altLang="en-US" dirty="0"/>
              <a:t>位址是以</a:t>
            </a:r>
            <a:r>
              <a:rPr lang="zh-TW" altLang="en-US" b="1" dirty="0"/>
              <a:t>四個位元組（</a:t>
            </a:r>
            <a:r>
              <a:rPr lang="en-US" altLang="zh-TW" b="1" dirty="0"/>
              <a:t>32 </a:t>
            </a:r>
            <a:r>
              <a:rPr lang="zh-TW" altLang="en-US" b="1" dirty="0"/>
              <a:t>位元）來表示，彼此之間再以點符號 </a:t>
            </a:r>
            <a:r>
              <a:rPr lang="en-US" altLang="zh-TW" b="1" dirty="0"/>
              <a:t>"." </a:t>
            </a:r>
            <a:r>
              <a:rPr lang="zh-TW" altLang="en-US" b="1" dirty="0"/>
              <a:t>做為區隔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00B124D-5E05-4A86-9737-3F070BEAF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509120"/>
            <a:ext cx="4896544" cy="21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8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999" y="741600"/>
            <a:ext cx="8244457" cy="5760000"/>
          </a:xfrm>
        </p:spPr>
        <p:txBody>
          <a:bodyPr/>
          <a:lstStyle/>
          <a:p>
            <a:pPr marL="0" lvl="2" indent="0">
              <a:buNone/>
            </a:pPr>
            <a:r>
              <a:rPr lang="zh-TW" altLang="en-US" dirty="0"/>
              <a:t>如表</a:t>
            </a:r>
            <a:r>
              <a:rPr lang="en-US" altLang="zh-TW" dirty="0"/>
              <a:t>13-1 </a:t>
            </a:r>
            <a:r>
              <a:rPr lang="zh-TW" altLang="en-US" dirty="0"/>
              <a:t>所示</a:t>
            </a:r>
            <a:r>
              <a:rPr lang="en-US" altLang="zh-TW" dirty="0"/>
              <a:t>IPv4 </a:t>
            </a:r>
            <a:r>
              <a:rPr lang="zh-TW" altLang="en-US" dirty="0"/>
              <a:t>位址的分類及範圍，不同機構對於</a:t>
            </a:r>
            <a:r>
              <a:rPr lang="en-US" altLang="zh-TW" dirty="0"/>
              <a:t>IP </a:t>
            </a:r>
            <a:r>
              <a:rPr lang="zh-TW" altLang="en-US" dirty="0"/>
              <a:t>位址的需求量不同，可以分為</a:t>
            </a:r>
            <a:r>
              <a:rPr lang="en-US" altLang="zh-TW" dirty="0"/>
              <a:t>A</a:t>
            </a:r>
            <a:r>
              <a:rPr lang="zh-TW" altLang="en-US" dirty="0"/>
              <a:t>、</a:t>
            </a:r>
            <a:r>
              <a:rPr lang="en-US" altLang="zh-TW" dirty="0"/>
              <a:t>B</a:t>
            </a:r>
            <a:r>
              <a:rPr lang="zh-TW" altLang="en-US" dirty="0"/>
              <a:t>、</a:t>
            </a:r>
            <a:r>
              <a:rPr lang="en-US" altLang="zh-TW" dirty="0"/>
              <a:t>C</a:t>
            </a:r>
            <a:r>
              <a:rPr lang="zh-TW" altLang="en-US" dirty="0"/>
              <a:t>、</a:t>
            </a:r>
            <a:r>
              <a:rPr lang="en-US" altLang="zh-TW" dirty="0"/>
              <a:t>D</a:t>
            </a:r>
            <a:r>
              <a:rPr lang="zh-TW" altLang="en-US" dirty="0"/>
              <a:t>、</a:t>
            </a:r>
            <a:r>
              <a:rPr lang="en-US" altLang="zh-TW" dirty="0"/>
              <a:t>E </a:t>
            </a:r>
            <a:r>
              <a:rPr lang="zh-TW" altLang="en-US" dirty="0"/>
              <a:t>五種等級（</a:t>
            </a:r>
            <a:r>
              <a:rPr lang="en-US" altLang="zh-TW" dirty="0"/>
              <a:t>Class</a:t>
            </a:r>
            <a:r>
              <a:rPr lang="zh-TW" altLang="en-US" dirty="0"/>
              <a:t>）。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b="1" dirty="0"/>
              <a:t>Class C </a:t>
            </a:r>
            <a:r>
              <a:rPr lang="zh-TW" altLang="en-US" b="1" dirty="0"/>
              <a:t>是</a:t>
            </a:r>
            <a:r>
              <a:rPr lang="en-US" altLang="zh-TW" b="1" dirty="0"/>
              <a:t>ISP </a:t>
            </a:r>
            <a:r>
              <a:rPr lang="zh-TW" altLang="en-US" b="1" dirty="0"/>
              <a:t>服務商及小型企業使用。</a:t>
            </a:r>
            <a:endParaRPr lang="en-US" altLang="zh-TW" b="1" dirty="0"/>
          </a:p>
          <a:p>
            <a:pPr marL="0" lvl="2" indent="0">
              <a:buNone/>
            </a:pP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A2C4523-E471-464F-912B-B01FA3961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88840"/>
            <a:ext cx="7524328" cy="230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3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999" y="741600"/>
            <a:ext cx="8244457" cy="5760000"/>
          </a:xfrm>
        </p:spPr>
        <p:txBody>
          <a:bodyPr/>
          <a:lstStyle/>
          <a:p>
            <a:pPr marL="0" lvl="2" indent="0">
              <a:buNone/>
            </a:pPr>
            <a:r>
              <a:rPr lang="en-US" altLang="zh-TW" b="1" dirty="0"/>
              <a:t>IPv4 </a:t>
            </a:r>
            <a:r>
              <a:rPr lang="zh-TW" altLang="en-US" b="1" dirty="0"/>
              <a:t>位址包含網路名稱（</a:t>
            </a:r>
            <a:r>
              <a:rPr lang="en-US" altLang="zh-TW" b="1" dirty="0"/>
              <a:t>Net ID</a:t>
            </a:r>
            <a:r>
              <a:rPr lang="zh-TW" altLang="en-US" b="1" dirty="0"/>
              <a:t>）及主機名稱（</a:t>
            </a:r>
            <a:r>
              <a:rPr lang="en-US" altLang="zh-TW" b="1" dirty="0"/>
              <a:t>Host ID</a:t>
            </a:r>
            <a:r>
              <a:rPr lang="zh-TW" altLang="en-US" b="1" dirty="0"/>
              <a:t>），網路名稱用來識別所屬網路，主機名稱用來識別該網路中的設備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dirty="0"/>
              <a:t>Class C </a:t>
            </a:r>
            <a:r>
              <a:rPr lang="zh-TW" altLang="en-US" dirty="0"/>
              <a:t>的網路數量有</a:t>
            </a:r>
            <a:r>
              <a:rPr lang="en-US" altLang="zh-TW" dirty="0"/>
              <a:t>221 = 2,097,152 </a:t>
            </a:r>
            <a:r>
              <a:rPr lang="zh-TW" altLang="en-US" dirty="0"/>
              <a:t>個，主機數量有</a:t>
            </a:r>
            <a:r>
              <a:rPr lang="en-US" altLang="zh-TW" dirty="0"/>
              <a:t>28 – 2 = 254</a:t>
            </a:r>
            <a:r>
              <a:rPr lang="zh-TW" altLang="en-US" dirty="0"/>
              <a:t>。當主機名稱全部位元皆為</a:t>
            </a:r>
            <a:r>
              <a:rPr lang="en-US" altLang="zh-TW" dirty="0"/>
              <a:t>0 </a:t>
            </a:r>
            <a:r>
              <a:rPr lang="zh-TW" altLang="en-US" dirty="0"/>
              <a:t>時，是指網路本身識別碼；全部位元皆為</a:t>
            </a:r>
            <a:r>
              <a:rPr lang="en-US" altLang="zh-TW" dirty="0"/>
              <a:t>1 </a:t>
            </a:r>
            <a:r>
              <a:rPr lang="zh-TW" altLang="en-US" dirty="0"/>
              <a:t>時，是指該網路的廣播位址，因此主機數量會減</a:t>
            </a:r>
            <a:r>
              <a:rPr lang="en-US" altLang="zh-TW" dirty="0"/>
              <a:t>2</a:t>
            </a:r>
            <a:r>
              <a:rPr lang="zh-TW" altLang="en-US" dirty="0"/>
              <a:t>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4017B2C-2671-47A8-81B9-67E1FB5AE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06" y="2739985"/>
            <a:ext cx="6008598" cy="357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85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999" y="741600"/>
            <a:ext cx="8244457" cy="5760000"/>
          </a:xfrm>
        </p:spPr>
        <p:txBody>
          <a:bodyPr/>
          <a:lstStyle/>
          <a:p>
            <a:pPr marL="0" lvl="2" indent="0">
              <a:buNone/>
            </a:pPr>
            <a:r>
              <a:rPr lang="en-US" altLang="zh-TW" b="1" dirty="0"/>
              <a:t>IPv6 </a:t>
            </a:r>
            <a:r>
              <a:rPr lang="zh-TW" altLang="en-US" b="1" dirty="0"/>
              <a:t>是以八個</a:t>
            </a:r>
            <a:r>
              <a:rPr lang="en-US" altLang="zh-TW" b="1" dirty="0"/>
              <a:t>16 </a:t>
            </a:r>
            <a:r>
              <a:rPr lang="zh-TW" altLang="en-US" b="1" dirty="0"/>
              <a:t>位元（</a:t>
            </a:r>
            <a:r>
              <a:rPr lang="en-US" altLang="zh-TW" b="1" dirty="0"/>
              <a:t>128 </a:t>
            </a:r>
            <a:r>
              <a:rPr lang="zh-TW" altLang="en-US" b="1" dirty="0"/>
              <a:t>位元）來表示，彼此之間再以冒號 </a:t>
            </a:r>
            <a:r>
              <a:rPr lang="en-US" altLang="zh-TW" b="1" dirty="0"/>
              <a:t>“:” </a:t>
            </a:r>
            <a:r>
              <a:rPr lang="zh-TW" altLang="en-US" b="1" dirty="0"/>
              <a:t>做為區隔</a:t>
            </a:r>
            <a:r>
              <a:rPr lang="zh-TW" altLang="en-US" dirty="0"/>
              <a:t>。十六進位表示</a:t>
            </a:r>
            <a:r>
              <a:rPr lang="en-US" altLang="zh-TW" dirty="0" err="1"/>
              <a:t>hhhh:hhhh:hhhh:hhhh:hhhh:hhhh:hhhh:hhhh</a:t>
            </a:r>
            <a:r>
              <a:rPr lang="en-US" altLang="zh-TW" dirty="0"/>
              <a:t> </a:t>
            </a:r>
            <a:r>
              <a:rPr lang="zh-TW" altLang="en-US" dirty="0"/>
              <a:t>形式，其中</a:t>
            </a:r>
            <a:r>
              <a:rPr lang="en-US" altLang="zh-TW" dirty="0" err="1"/>
              <a:t>hhhh</a:t>
            </a:r>
            <a:r>
              <a:rPr lang="en-US" altLang="zh-TW" dirty="0"/>
              <a:t> </a:t>
            </a:r>
            <a:r>
              <a:rPr lang="zh-TW" altLang="en-US" dirty="0"/>
              <a:t>代表介於</a:t>
            </a:r>
            <a:r>
              <a:rPr lang="en-US" altLang="zh-TW" dirty="0"/>
              <a:t>0000 ~ FFFF </a:t>
            </a:r>
            <a:r>
              <a:rPr lang="zh-TW" altLang="en-US" dirty="0"/>
              <a:t>之間的十六進位數值。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dirty="0"/>
              <a:t>IPv4 </a:t>
            </a:r>
            <a:r>
              <a:rPr lang="zh-TW" altLang="en-US" dirty="0"/>
              <a:t>與</a:t>
            </a:r>
            <a:r>
              <a:rPr lang="en-US" altLang="zh-TW" dirty="0"/>
              <a:t>IPv6 </a:t>
            </a:r>
            <a:r>
              <a:rPr lang="zh-TW" altLang="en-US" dirty="0"/>
              <a:t>只是版本上的差異，但實際上是</a:t>
            </a:r>
            <a:r>
              <a:rPr lang="zh-TW" altLang="en-US" b="1" dirty="0"/>
              <a:t>完全不同的協定，兩者不能互通</a:t>
            </a:r>
            <a:r>
              <a:rPr lang="zh-TW" altLang="en-US" dirty="0"/>
              <a:t>。</a:t>
            </a:r>
            <a:endParaRPr lang="en-US" altLang="zh-TW" dirty="0"/>
          </a:p>
          <a:p>
            <a:pPr indent="-457200"/>
            <a:r>
              <a:rPr lang="en-US" altLang="zh-TW" dirty="0"/>
              <a:t>13-1-4 </a:t>
            </a:r>
            <a:r>
              <a:rPr lang="zh-TW" altLang="en-US" dirty="0"/>
              <a:t>子網路遮罩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971D76C-B7DF-41B4-A582-832F3A76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33" y="3573016"/>
            <a:ext cx="7685187" cy="269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2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999" y="741600"/>
            <a:ext cx="8244457" cy="5760000"/>
          </a:xfrm>
        </p:spPr>
        <p:txBody>
          <a:bodyPr/>
          <a:lstStyle/>
          <a:p>
            <a:pPr marL="0" lvl="2" indent="0">
              <a:buNone/>
            </a:pPr>
            <a:r>
              <a:rPr lang="zh-TW" altLang="en-US" dirty="0"/>
              <a:t>子網路遮罩可以用來判斷多個電腦是否在同一個子網路，使用</a:t>
            </a:r>
            <a:r>
              <a:rPr lang="en-US" altLang="zh-TW" dirty="0"/>
              <a:t>AND </a:t>
            </a:r>
            <a:r>
              <a:rPr lang="zh-TW" altLang="en-US" dirty="0"/>
              <a:t>邏輯來運算。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dirty="0"/>
              <a:t>如圖</a:t>
            </a:r>
            <a:r>
              <a:rPr lang="en-US" altLang="zh-TW" dirty="0"/>
              <a:t>13-4</a:t>
            </a:r>
            <a:r>
              <a:rPr lang="zh-TW" altLang="en-US" dirty="0"/>
              <a:t>所示子網路遮罩</a:t>
            </a:r>
            <a:r>
              <a:rPr lang="en-US" altLang="zh-TW" dirty="0"/>
              <a:t>AND </a:t>
            </a:r>
            <a:r>
              <a:rPr lang="zh-TW" altLang="en-US" dirty="0"/>
              <a:t>運算，第一台電腦的</a:t>
            </a:r>
            <a:r>
              <a:rPr lang="en-US" altLang="zh-TW" dirty="0"/>
              <a:t>IP </a:t>
            </a:r>
            <a:r>
              <a:rPr lang="zh-TW" altLang="en-US" dirty="0"/>
              <a:t>位址為</a:t>
            </a:r>
            <a:r>
              <a:rPr lang="en-US" altLang="zh-TW" dirty="0"/>
              <a:t>192.168.0.10</a:t>
            </a:r>
            <a:r>
              <a:rPr lang="zh-TW" altLang="en-US" dirty="0"/>
              <a:t>，第二台電腦的</a:t>
            </a:r>
            <a:r>
              <a:rPr lang="en-US" altLang="zh-TW" dirty="0"/>
              <a:t>IP </a:t>
            </a:r>
            <a:r>
              <a:rPr lang="zh-TW" altLang="en-US" dirty="0"/>
              <a:t>位址為</a:t>
            </a:r>
            <a:r>
              <a:rPr lang="en-US" altLang="zh-TW" dirty="0"/>
              <a:t>192.168.1.10</a:t>
            </a:r>
            <a:r>
              <a:rPr lang="zh-TW" altLang="en-US" dirty="0"/>
              <a:t>，經過</a:t>
            </a:r>
            <a:r>
              <a:rPr lang="en-US" altLang="zh-TW" dirty="0"/>
              <a:t>AND </a:t>
            </a:r>
            <a:r>
              <a:rPr lang="zh-TW" altLang="en-US" dirty="0"/>
              <a:t>運算的</a:t>
            </a:r>
            <a:r>
              <a:rPr lang="zh-TW" altLang="en-US" dirty="0">
                <a:solidFill>
                  <a:srgbClr val="FF0000"/>
                </a:solidFill>
              </a:rPr>
              <a:t>結果不同，並非屬於同一個子網路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indent="-457200"/>
            <a:r>
              <a:rPr lang="en-US" altLang="zh-TW" dirty="0"/>
              <a:t>13-1-5 </a:t>
            </a:r>
            <a:r>
              <a:rPr lang="zh-TW" altLang="en-US" dirty="0"/>
              <a:t>預設閘道</a:t>
            </a:r>
          </a:p>
          <a:p>
            <a:pPr marL="0" lvl="2" indent="0">
              <a:buNone/>
            </a:pPr>
            <a:r>
              <a:rPr lang="zh-TW" altLang="en-US" dirty="0"/>
              <a:t>預設閘道（</a:t>
            </a:r>
            <a:r>
              <a:rPr lang="en-US" altLang="zh-TW" dirty="0"/>
              <a:t>Default Gateway</a:t>
            </a:r>
            <a:r>
              <a:rPr lang="zh-TW" altLang="en-US" dirty="0"/>
              <a:t>）是指網路連線時，封包透過路由器（</a:t>
            </a:r>
            <a:r>
              <a:rPr lang="en-US" altLang="zh-TW" dirty="0"/>
              <a:t>Router</a:t>
            </a:r>
            <a:r>
              <a:rPr lang="zh-TW" altLang="en-US" dirty="0"/>
              <a:t>）傳送的預設目的地。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9CF83C7-12E8-4D20-AB8B-7F2232926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52" y="2559426"/>
            <a:ext cx="7236296" cy="212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0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0C77C5-58E4-430E-94B9-4D303E3107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13-1-6 </a:t>
            </a:r>
            <a:r>
              <a:rPr lang="zh-TW" altLang="en-US" dirty="0"/>
              <a:t>廣域網路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b="1" dirty="0"/>
              <a:t>固定</a:t>
            </a:r>
            <a:r>
              <a:rPr lang="en-US" altLang="zh-TW" b="1" dirty="0"/>
              <a:t>IP </a:t>
            </a:r>
            <a:r>
              <a:rPr lang="zh-TW" altLang="en-US" b="1" dirty="0"/>
              <a:t>位址或浮動</a:t>
            </a:r>
            <a:r>
              <a:rPr lang="en-US" altLang="zh-TW" b="1" dirty="0"/>
              <a:t>IP </a:t>
            </a:r>
            <a:r>
              <a:rPr lang="zh-TW" altLang="en-US" b="1" dirty="0"/>
              <a:t>位址又稱為公用</a:t>
            </a:r>
            <a:r>
              <a:rPr lang="en-US" altLang="zh-TW" b="1" dirty="0"/>
              <a:t>IP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6B79CC2-CD1C-451D-BB9F-E8856EF86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96" y="1988840"/>
            <a:ext cx="5363607" cy="426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9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999" y="741600"/>
            <a:ext cx="8244457" cy="5760000"/>
          </a:xfrm>
        </p:spPr>
        <p:txBody>
          <a:bodyPr/>
          <a:lstStyle/>
          <a:p>
            <a:r>
              <a:rPr lang="en-US" altLang="zh-TW" dirty="0"/>
              <a:t>13-1-7 </a:t>
            </a:r>
            <a:r>
              <a:rPr lang="zh-TW" altLang="en-US" dirty="0"/>
              <a:t>無線區域網路</a:t>
            </a:r>
          </a:p>
          <a:p>
            <a:pPr marL="0" lvl="2" indent="0">
              <a:buNone/>
            </a:pPr>
            <a:r>
              <a:rPr lang="zh-TW" altLang="en-US" dirty="0"/>
              <a:t>所謂無線區域網路（</a:t>
            </a:r>
            <a:r>
              <a:rPr lang="en-US" altLang="zh-TW" dirty="0"/>
              <a:t>Wireless Local Area Network</a:t>
            </a:r>
            <a:r>
              <a:rPr lang="zh-TW" altLang="en-US" dirty="0"/>
              <a:t>，簡稱</a:t>
            </a:r>
            <a:r>
              <a:rPr lang="en-US" altLang="zh-TW" dirty="0"/>
              <a:t>WLAN</a:t>
            </a:r>
            <a:r>
              <a:rPr lang="zh-TW" altLang="en-US" dirty="0"/>
              <a:t>）是指由無線基地台（</a:t>
            </a:r>
            <a:r>
              <a:rPr lang="en-US" altLang="zh-TW" dirty="0"/>
              <a:t>Access Point</a:t>
            </a:r>
            <a:r>
              <a:rPr lang="zh-TW" altLang="en-US" dirty="0"/>
              <a:t>，簡稱</a:t>
            </a:r>
            <a:r>
              <a:rPr lang="en-US" altLang="zh-TW" dirty="0"/>
              <a:t>AP</a:t>
            </a:r>
            <a:r>
              <a:rPr lang="zh-TW" altLang="en-US" dirty="0"/>
              <a:t>），連結電信服務商的數據機（</a:t>
            </a:r>
            <a:r>
              <a:rPr lang="en-US" altLang="zh-TW" dirty="0"/>
              <a:t>modem</a:t>
            </a:r>
            <a:r>
              <a:rPr lang="zh-TW" altLang="en-US" dirty="0"/>
              <a:t>）發射無線電波信號，再由使用者電腦所裝設的無線網卡來接收信號。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161262E-D4B0-4039-8D72-3D162D292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587904"/>
            <a:ext cx="5184576" cy="159918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206496F-3CD7-49E8-9BF3-7A0A64977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08" y="4187090"/>
            <a:ext cx="8028384" cy="251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6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0A3C5E9-4F78-4A91-AFB6-9E88B689E4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13-1-8 </a:t>
            </a:r>
            <a:r>
              <a:rPr lang="zh-TW" altLang="en-US" dirty="0"/>
              <a:t>建立可以連上網際網路的私用</a:t>
            </a:r>
            <a:r>
              <a:rPr lang="en-US" altLang="zh-TW" dirty="0"/>
              <a:t>IP</a:t>
            </a:r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marL="0" lvl="2" indent="0">
              <a:buNone/>
            </a:pPr>
            <a:r>
              <a:rPr lang="zh-TW" altLang="en-US" dirty="0"/>
              <a:t>設定完成後，在瀏覽器的網址列中輸入如下所示連線網址，只要是由</a:t>
            </a:r>
            <a:r>
              <a:rPr lang="en-US" altLang="zh-TW" dirty="0"/>
              <a:t>Internet </a:t>
            </a:r>
            <a:r>
              <a:rPr lang="zh-TW" altLang="en-US" dirty="0"/>
              <a:t>連接到寬頻分享器的公用</a:t>
            </a:r>
            <a:r>
              <a:rPr lang="en-US" altLang="zh-TW" dirty="0"/>
              <a:t>IP </a:t>
            </a:r>
            <a:r>
              <a:rPr lang="zh-TW" altLang="en-US" dirty="0"/>
              <a:t>位址，就會被轉遞到</a:t>
            </a:r>
            <a:r>
              <a:rPr lang="en-US" altLang="zh-TW" dirty="0"/>
              <a:t>Ethernet </a:t>
            </a:r>
            <a:r>
              <a:rPr lang="zh-TW" altLang="en-US" dirty="0"/>
              <a:t>模組或</a:t>
            </a:r>
            <a:r>
              <a:rPr lang="en-US" altLang="zh-TW" dirty="0"/>
              <a:t>Wi-Fi </a:t>
            </a:r>
            <a:r>
              <a:rPr lang="zh-TW" altLang="en-US" dirty="0"/>
              <a:t>模組的私用</a:t>
            </a:r>
            <a:r>
              <a:rPr lang="en-US" altLang="zh-TW" dirty="0"/>
              <a:t>IP</a:t>
            </a:r>
            <a:r>
              <a:rPr lang="zh-TW" altLang="en-US" dirty="0"/>
              <a:t>位址。</a:t>
            </a: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indent="-457200"/>
            <a:r>
              <a:rPr lang="en-US" altLang="zh-TW" dirty="0"/>
              <a:t>13-1-9 </a:t>
            </a:r>
            <a:r>
              <a:rPr lang="zh-TW" altLang="en-US" dirty="0"/>
              <a:t>取得公用</a:t>
            </a:r>
            <a:r>
              <a:rPr lang="en-US" altLang="zh-TW" dirty="0"/>
              <a:t>IP </a:t>
            </a:r>
            <a:r>
              <a:rPr lang="zh-TW" altLang="en-US" dirty="0"/>
              <a:t>位址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dirty="0"/>
              <a:t>只要在瀏覽器中輸入關鍵字 </a:t>
            </a:r>
            <a:r>
              <a:rPr lang="en-US" altLang="zh-TW" b="1" dirty="0" err="1"/>
              <a:t>whatismyip</a:t>
            </a:r>
            <a:r>
              <a:rPr lang="zh-TW" altLang="en-US" dirty="0"/>
              <a:t>，並且點選「我的</a:t>
            </a:r>
            <a:r>
              <a:rPr lang="en-US" altLang="zh-TW" dirty="0"/>
              <a:t>IP </a:t>
            </a:r>
            <a:r>
              <a:rPr lang="zh-TW" altLang="en-US" dirty="0"/>
              <a:t>位址查詢」，即可得知目前所使用的公用</a:t>
            </a:r>
            <a:r>
              <a:rPr lang="en-US" altLang="zh-TW" dirty="0"/>
              <a:t>IP </a:t>
            </a:r>
            <a:r>
              <a:rPr lang="zh-TW" altLang="en-US" dirty="0"/>
              <a:t>位址。</a:t>
            </a:r>
            <a:endParaRPr lang="en-US" altLang="zh-TW" dirty="0"/>
          </a:p>
          <a:p>
            <a:pPr lvl="2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13CEDF-BEF4-430E-9E4E-044BBD237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340768"/>
            <a:ext cx="2709956" cy="197463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1FE7E2D-5DAA-44C6-A084-331AC4BD8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509120"/>
            <a:ext cx="4582164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99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D5124D8-F8CA-6D0A-8928-EDD8A452F8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999" y="1364512"/>
            <a:ext cx="8460481" cy="5160832"/>
          </a:xfrm>
        </p:spPr>
        <p:txBody>
          <a:bodyPr/>
          <a:lstStyle/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marL="0" lvl="2" indent="0">
              <a:buNone/>
            </a:pPr>
            <a:r>
              <a:rPr lang="zh-TW" altLang="en-US" dirty="0"/>
              <a:t>如圖</a:t>
            </a:r>
            <a:r>
              <a:rPr lang="en-US" altLang="zh-TW" dirty="0"/>
              <a:t>13-8 </a:t>
            </a:r>
            <a:r>
              <a:rPr lang="zh-TW" altLang="en-US" dirty="0"/>
              <a:t>所示</a:t>
            </a:r>
            <a:r>
              <a:rPr lang="en-US" altLang="zh-TW" dirty="0"/>
              <a:t>TCP / IP </a:t>
            </a:r>
            <a:r>
              <a:rPr lang="zh-TW" altLang="en-US" dirty="0"/>
              <a:t>四層模型，是</a:t>
            </a:r>
            <a:r>
              <a:rPr lang="en-US" altLang="zh-TW" dirty="0"/>
              <a:t>OSI </a:t>
            </a:r>
            <a:r>
              <a:rPr lang="zh-TW" altLang="en-US" dirty="0"/>
              <a:t>七層模型的簡化，分別為鏈結層（</a:t>
            </a:r>
            <a:r>
              <a:rPr lang="en-US" altLang="zh-TW" dirty="0"/>
              <a:t>Link layer</a:t>
            </a:r>
            <a:r>
              <a:rPr lang="zh-TW" altLang="en-US" dirty="0"/>
              <a:t>）、網路層（</a:t>
            </a:r>
            <a:r>
              <a:rPr lang="en-US" altLang="zh-TW" dirty="0"/>
              <a:t>Network Layer</a:t>
            </a:r>
            <a:r>
              <a:rPr lang="zh-TW" altLang="en-US" dirty="0"/>
              <a:t>）、傳輸層（</a:t>
            </a:r>
            <a:r>
              <a:rPr lang="en-US" altLang="zh-TW" dirty="0"/>
              <a:t>Transport Layer</a:t>
            </a:r>
            <a:r>
              <a:rPr lang="zh-TW" altLang="en-US" dirty="0"/>
              <a:t>）和應用層（</a:t>
            </a:r>
            <a:r>
              <a:rPr lang="en-US" altLang="zh-TW" dirty="0"/>
              <a:t>Application Layer</a:t>
            </a:r>
            <a:r>
              <a:rPr lang="zh-TW" altLang="en-US" dirty="0"/>
              <a:t>）。</a:t>
            </a:r>
          </a:p>
          <a:p>
            <a:pPr marL="0" lvl="2" indent="0">
              <a:buNone/>
            </a:pPr>
            <a:r>
              <a:rPr lang="zh-TW" altLang="en-US" dirty="0"/>
              <a:t>鏈結層的功用是定義網路裝置間的傳輸媒體（銅線、紅外線、光纖等）、傳輸速度及傳輸訊號等，並且使用裝置的實體</a:t>
            </a:r>
            <a:r>
              <a:rPr lang="en-US" altLang="zh-TW" dirty="0"/>
              <a:t>MAC </a:t>
            </a:r>
            <a:r>
              <a:rPr lang="zh-TW" altLang="en-US" dirty="0"/>
              <a:t>位址來指定專屬的通訊對象。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4DF6469-0B44-D408-D15F-E0ADD5CA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13-2 TCP / IP </a:t>
            </a:r>
            <a:r>
              <a:rPr lang="zh-TW" altLang="en-US" dirty="0"/>
              <a:t>四層模型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3FB54F3-9B09-4936-996F-5F8EBB3A6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268760"/>
            <a:ext cx="6552245" cy="301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93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999" y="741600"/>
            <a:ext cx="8244457" cy="5760000"/>
          </a:xfrm>
        </p:spPr>
        <p:txBody>
          <a:bodyPr/>
          <a:lstStyle/>
          <a:p>
            <a:r>
              <a:rPr lang="en-US" altLang="zh-TW" dirty="0"/>
              <a:t>13-2-1 MAC </a:t>
            </a:r>
            <a:r>
              <a:rPr lang="zh-TW" altLang="en-US" dirty="0"/>
              <a:t>位址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b="1" dirty="0"/>
              <a:t>MAC </a:t>
            </a:r>
            <a:r>
              <a:rPr lang="zh-TW" altLang="en-US" b="1" dirty="0"/>
              <a:t>位址是實體位址不可以更改</a:t>
            </a:r>
            <a:r>
              <a:rPr lang="zh-TW" altLang="en-US" dirty="0"/>
              <a:t>，而</a:t>
            </a:r>
            <a:r>
              <a:rPr lang="en-US" altLang="zh-TW" dirty="0"/>
              <a:t>IP</a:t>
            </a:r>
            <a:r>
              <a:rPr lang="zh-TW" altLang="en-US" dirty="0"/>
              <a:t>位址是邏輯位址可以更改，兩者沒有直接的關係。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5E4A9F1-607C-4598-8FEC-383D1F8B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204864"/>
            <a:ext cx="3429479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324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24653</TotalTime>
  <Words>897</Words>
  <Application>Microsoft Office PowerPoint</Application>
  <PresentationFormat>如螢幕大小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微軟正黑體</vt:lpstr>
      <vt:lpstr>Arial</vt:lpstr>
      <vt:lpstr>Arial Black</vt:lpstr>
      <vt:lpstr>Calibri</vt:lpstr>
      <vt:lpstr>Wingdings</vt:lpstr>
      <vt:lpstr>Median</vt:lpstr>
      <vt:lpstr>PowerPoint 簡報</vt:lpstr>
      <vt:lpstr>13-1 認識電腦網路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13-2 TCP / IP 四層模型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敲開 Android 的開發大門</dc:title>
  <dc:creator>memi</dc:creator>
  <cp:keywords>ACL040700</cp:keywords>
  <cp:lastModifiedBy>炳志 林</cp:lastModifiedBy>
  <cp:revision>2096</cp:revision>
  <dcterms:created xsi:type="dcterms:W3CDTF">2011-06-06T16:54:13Z</dcterms:created>
  <dcterms:modified xsi:type="dcterms:W3CDTF">2026-05-05T03:31:21Z</dcterms:modified>
</cp:coreProperties>
</file>