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Noto Sans TC"/>
              </a:rPr>
              <a:t>Windows vs Linux 系統架構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475569"/>
                </a:solidFill>
                <a:latin typeface="Noto Sans TC"/>
              </a:rPr>
              <a:t>先看硬體，再看作業系統，最後看應用層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Noto Sans TC"/>
              </a:rPr>
              <a:t>硬體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0972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Noto Sans TC"/>
              </a:rPr>
              <a:t>作業系統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0972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Noto Sans TC"/>
              </a:rPr>
              <a:t>系統分層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194560" cy="9144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>
                <a:solidFill>
                  <a:srgbClr val="111827"/>
                </a:solidFill>
                <a:latin typeface="Noto Sans TC"/>
              </a:rP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34640"/>
            <a:ext cx="2194560" cy="9144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>
                <a:solidFill>
                  <a:srgbClr val="111827"/>
                </a:solidFill>
                <a:latin typeface="Noto Sans TC"/>
              </a:rPr>
              <a:t>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86200"/>
            <a:ext cx="2194560" cy="9144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>
                <a:solidFill>
                  <a:srgbClr val="111827"/>
                </a:solidFill>
                <a:latin typeface="Noto Sans TC"/>
              </a:rPr>
              <a:t>HDD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926080" cy="1463040"/>
          </a:xfrm>
          <a:prstGeom prst="roundRect">
            <a:avLst/>
          </a:prstGeom>
          <a:solidFill>
            <a:srgbClr val="ECFEFF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>
                <a:solidFill>
                  <a:srgbClr val="111827"/>
                </a:solidFill>
                <a:latin typeface="Noto Sans TC"/>
              </a:rPr>
              <a:t>Windows
C: / D: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429000"/>
            <a:ext cx="2926080" cy="1645920"/>
          </a:xfrm>
          <a:prstGeom prst="roundRect">
            <a:avLst/>
          </a:prstGeom>
          <a:solidFill>
            <a:srgbClr val="F0FDF4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>
                <a:solidFill>
                  <a:srgbClr val="111827"/>
                </a:solidFill>
                <a:latin typeface="Noto Sans TC"/>
              </a:rPr>
              <a:t>Linux
/ /home /etc /var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783080"/>
            <a:ext cx="4754880" cy="12801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>
                <a:solidFill>
                  <a:srgbClr val="111827"/>
                </a:solidFill>
                <a:latin typeface="Noto Sans TC"/>
              </a:rPr>
              <a:t>Applications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154680"/>
            <a:ext cx="4754880" cy="868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>
                <a:solidFill>
                  <a:srgbClr val="111827"/>
                </a:solidFill>
                <a:latin typeface="Noto Sans TC"/>
              </a:rPr>
              <a:t>OS Utilities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114800"/>
            <a:ext cx="4754880" cy="868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>
                <a:solidFill>
                  <a:srgbClr val="111827"/>
                </a:solidFill>
                <a:latin typeface="Noto Sans TC"/>
              </a:rPr>
              <a:t>Kernel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5074920"/>
            <a:ext cx="4754880" cy="868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>
                <a:solidFill>
                  <a:srgbClr val="111827"/>
                </a:solidFill>
                <a:latin typeface="Noto Sans TC"/>
              </a:rPr>
              <a:t>Hardware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355080" y="2103120"/>
            <a:ext cx="457200" cy="384048"/>
          </a:xfrm>
          <a:prstGeom prst="rightArrow">
            <a:avLst/>
          </a:prstGeom>
          <a:solidFill>
            <a:srgbClr val="06B6D4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355080" y="3840480"/>
            <a:ext cx="457200" cy="384048"/>
          </a:xfrm>
          <a:prstGeom prst="rightArrow">
            <a:avLst/>
          </a:prstGeom>
          <a:solidFill>
            <a:srgbClr val="06B6D4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5803D"/>
                </a:solidFill>
                <a:latin typeface="Noto Sans TC"/>
              </a:rPr>
              <a:t>重點：Linux 使用單一目錄樹，常遵循 FHS。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Noto Sans TC"/>
              </a:rPr>
              <a:t>Linux FHS 快速記憶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00" cy="914400"/>
          </a:xfrm>
          <a:prstGeom prst="roundRect">
            <a:avLst/>
          </a:prstGeom>
          <a:solidFill>
            <a:srgbClr val="F0FDF4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700">
                <a:solidFill>
                  <a:srgbClr val="111827"/>
                </a:solidFill>
                <a:latin typeface="Noto Sans TC"/>
              </a:rPr>
              <a:t>/etc = 設定檔    /var/log = 日誌    /home = 使用者檔案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10972800" cy="914400"/>
          </a:xfrm>
          <a:prstGeom prst="roundRect">
            <a:avLst/>
          </a:prstGeom>
          <a:solidFill>
            <a:srgbClr val="ECFEFF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700">
                <a:solidFill>
                  <a:srgbClr val="111827"/>
                </a:solidFill>
                <a:latin typeface="Noto Sans TC"/>
              </a:rPr>
              <a:t>/bin = 基本命令    /usr = 多數程式與資源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0972800" cy="9144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>
                <a:solidFill>
                  <a:srgbClr val="111827"/>
                </a:solidFill>
                <a:latin typeface="Noto Sans TC"/>
              </a:rPr>
              <a:t>口訣：找設定看 /etc，找日誌看 /var/log，找個人檔案看 /home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E293B"/>
                </a:solidFill>
                <a:latin typeface="Noto Sans TC"/>
              </a:rPr>
              <a:t>練習題：
1. SSH 設定檔通常在哪個目錄？
2. 系統錯誤日誌通常去哪裡找？
3. 使用者下載檔案通常放在哪裡？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