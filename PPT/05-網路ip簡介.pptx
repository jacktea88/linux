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776" r:id="rId4"/>
    <p:sldId id="777" r:id="rId5"/>
    <p:sldId id="809" r:id="rId6"/>
    <p:sldId id="810" r:id="rId7"/>
    <p:sldId id="811" r:id="rId8"/>
    <p:sldId id="813" r:id="rId9"/>
    <p:sldId id="814" r:id="rId10"/>
    <p:sldId id="848" r:id="rId11"/>
    <p:sldId id="815" r:id="rId12"/>
    <p:sldId id="849" r:id="rId13"/>
    <p:sldId id="812" r:id="rId14"/>
    <p:sldId id="81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451" autoAdjust="0"/>
  </p:normalViewPr>
  <p:slideViewPr>
    <p:cSldViewPr snapToGrid="0">
      <p:cViewPr varScale="1">
        <p:scale>
          <a:sx n="90" d="100"/>
          <a:sy n="90" d="100"/>
        </p:scale>
        <p:origin x="13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382A6-9C34-40B7-87B9-BF5F06077242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A3813-6577-44EA-95FF-FB17545C87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6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zh-TW" altLang="en-US" dirty="0"/>
              <a:t>：</a:t>
            </a:r>
            <a:r>
              <a:rPr lang="en-US" altLang="zh-TW" dirty="0"/>
              <a:t>128+64=192+32=224+16=240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A3813-6577-44EA-95FF-FB17545C878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188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前面三個都要相同，所以是三個</a:t>
            </a:r>
            <a:r>
              <a:rPr lang="en-US" altLang="zh-TW" dirty="0"/>
              <a:t>255</a:t>
            </a:r>
            <a:r>
              <a:rPr lang="zh-TW" altLang="en-US" dirty="0"/>
              <a:t>，二進制是</a:t>
            </a:r>
            <a:r>
              <a:rPr lang="en-US" altLang="zh-TW" dirty="0"/>
              <a:t>1</a:t>
            </a:r>
            <a:r>
              <a:rPr lang="zh-TW" altLang="en-US" dirty="0"/>
              <a:t>代表以對方是</a:t>
            </a:r>
            <a:r>
              <a:rPr lang="en-US" altLang="zh-TW" dirty="0"/>
              <a:t>0</a:t>
            </a:r>
            <a:r>
              <a:rPr lang="zh-TW" altLang="en-US" dirty="0"/>
              <a:t>或</a:t>
            </a:r>
            <a:r>
              <a:rPr lang="en-US" altLang="zh-TW" dirty="0"/>
              <a:t>1</a:t>
            </a:r>
            <a:r>
              <a:rPr lang="zh-TW" altLang="en-US" dirty="0"/>
              <a:t>來決定結果，最後一個填</a:t>
            </a:r>
            <a:r>
              <a:rPr lang="en-US" altLang="zh-TW" dirty="0"/>
              <a:t>0</a:t>
            </a:r>
            <a:r>
              <a:rPr lang="zh-TW" altLang="en-US" dirty="0"/>
              <a:t>代表不管對方是什麼，一律強制結果為</a:t>
            </a:r>
            <a:r>
              <a:rPr lang="en-US" altLang="zh-TW" dirty="0"/>
              <a:t>0</a:t>
            </a:r>
            <a:r>
              <a:rPr lang="zh-TW" altLang="en-US" dirty="0"/>
              <a:t>，代表相同結果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A3813-6577-44EA-95FF-FB17545C878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571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有的軟體授權會檢查硬體</a:t>
            </a:r>
            <a:r>
              <a:rPr lang="en-US" altLang="zh-TW" dirty="0"/>
              <a:t>MAC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A3813-6577-44EA-95FF-FB17545C878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4C1A0-3FAB-912F-5B0F-7424838DB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875B17-9572-71A0-73B7-7F0763F79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90D4FE-A8FD-47CA-CFE9-7EA2FC39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E66F4C-08F7-17C0-A8D9-F7BA47BF9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F08CEC-DE93-F7A6-E946-A64B3F39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30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D7880-6643-A54A-8EC4-CB35BC1C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96E03C-BFEE-64AD-7639-7E0FBE7A0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0EC442-13B9-DA42-09B8-CEADBA35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81EC8B-FBC8-7465-303C-D3890063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17EFBC-BD8C-795F-FBFC-45833D1E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45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31650C-D9BE-6673-1B42-CC7F66F8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0DAD89-55A3-3BC9-98DF-6BD89809A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C45DB4-6B20-4565-D155-A800CFBE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4B755E-7D77-86D7-857A-CD8BDEF5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71E356-39AD-DE5E-7455-8232C3E4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76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24BED8-DB27-31A5-B409-BCD158B5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527BA1-140D-B898-A301-0E7F25FC7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6A71D5-FFBC-DE24-356B-79851A000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4587F3-C0AF-795E-80F6-0C85630B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E776F2-CC1F-3122-C430-E852AAED5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2DD3F2-E0BB-5851-A748-EBA33F36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870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AF0AAD-B60B-6ED8-F7F6-E4077C7EB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1E37D3-1CDB-8913-FF51-6FB9AF703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E30911-BBB6-7C38-8B3E-BE8186AB8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FC2CDC-9645-06BB-3549-9074468F5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75AB06-B2B4-DF5D-F4B9-D1E52E53C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BB4CF0C-CA2C-7CA8-C711-CD003EE3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D5D5302-C5F5-D2FA-05FF-400D5912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E59E4CE-EF29-440F-A1D9-93BAC1C2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8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873879-BFE0-E955-D0F7-E8C04C0E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D57974A-5D9D-6262-D4FD-EDA64C26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D2057F-BE46-B5C2-2DB4-06DDC83E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660F04F-34A8-34A2-C6C6-427B61D6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97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8969B8-4F1B-6D7A-3F66-13A6915A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2FDC0BA-D94B-6CF4-B489-78AFF7D6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D855A4-63A1-3C76-A137-41242BD7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02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F49D8-AE67-1D10-D1BA-02B08745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06B140-EEDE-151D-5788-D23BFFA9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BB18CA-E408-39BC-1383-08240D03D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8FC5F3-7CCF-492D-AF87-5B50CD8C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32791D-618E-D817-6A44-73D8F577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8103A6-F84F-BABF-4C3E-18C4547D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872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1C6C4-61BE-1BC5-253E-74926C000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57C0660-5C9B-935E-73F3-9640074DA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7B56E8-7BAF-4729-8FDF-2074F5F5A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5C5ABB-9760-BD07-42F3-0ACBAB3B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C7BC13-E33B-9EFF-65F7-8658EE08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8A84AF-07AA-F169-F2D9-86F4EF5E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72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8AA9AF-8D0C-7EA6-1A57-A3D11696F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CF1330A-1903-C9D0-42BE-0B236C63E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42B2C4-F577-FF19-BF5F-8A4D76B9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DEC00B-55E5-300A-E3F4-85F0FD4B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C0C0C0-B5FC-4067-8FB5-F7E70C72E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71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9A587FF-0C88-E9D7-8DF8-E8D8573E7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4A3856-383C-9396-6ABE-148395EFE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FEB54B-C3D1-DF69-D0F8-67BD9140A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7BA355-65B6-271E-AF2A-5EFD69FE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C8323F-9AAA-CF49-6037-D57B5472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994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書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071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9"/>
          <p:cNvSpPr>
            <a:spLocks noGrp="1"/>
          </p:cNvSpPr>
          <p:nvPr>
            <p:ph type="body" sz="quarter" idx="17"/>
          </p:nvPr>
        </p:nvSpPr>
        <p:spPr>
          <a:xfrm>
            <a:off x="1295467" y="3529887"/>
            <a:ext cx="10667315" cy="1143008"/>
          </a:xfrm>
          <a:noFill/>
          <a:ln w="12700" cap="rnd">
            <a:noFill/>
            <a:round/>
          </a:ln>
          <a:effectLst/>
        </p:spPr>
        <p:txBody>
          <a:bodyPr lIns="0" tIns="0" rIns="0" bIns="0" numCol="2" anchor="ctr" anchorCtr="0">
            <a:noAutofit/>
          </a:bodyPr>
          <a:lstStyle>
            <a:lvl1pPr>
              <a:lnSpc>
                <a:spcPts val="2400"/>
              </a:lnSpc>
              <a:spcBef>
                <a:spcPts val="500"/>
              </a:spcBef>
              <a:defRPr kumimoji="0" lang="zh-TW" altLang="en-US" sz="2000" b="1" u="none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+mn-cs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文字版面配置區 13"/>
          <p:cNvSpPr>
            <a:spLocks noGrp="1"/>
          </p:cNvSpPr>
          <p:nvPr>
            <p:ph type="body" sz="quarter" idx="15" hasCustomPrompt="1"/>
          </p:nvPr>
        </p:nvSpPr>
        <p:spPr>
          <a:xfrm>
            <a:off x="1295467" y="2636912"/>
            <a:ext cx="10382323" cy="714380"/>
          </a:xfrm>
          <a:effectLst/>
        </p:spPr>
        <p:txBody>
          <a:bodyPr anchor="ctr" anchorCtr="0">
            <a:noAutofit/>
          </a:bodyPr>
          <a:lstStyle>
            <a:lvl1pPr algn="l">
              <a:lnSpc>
                <a:spcPts val="4800"/>
              </a:lnSpc>
              <a:spcBef>
                <a:spcPts val="0"/>
              </a:spcBef>
              <a:defRPr sz="4400" b="1" u="none" cap="none" spc="0" baseline="0">
                <a:ln w="15875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lvl="0"/>
            <a:r>
              <a:rPr lang="zh-TW" altLang="en-US" dirty="0"/>
              <a:t>按一以輯母片文字樣式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95293" y="2344890"/>
            <a:ext cx="12000000" cy="3513002"/>
          </a:xfrm>
          <a:prstGeom prst="rect">
            <a:avLst/>
          </a:prstGeom>
          <a:noFill/>
          <a:ln w="76200">
            <a:solidFill>
              <a:srgbClr val="219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7" name="矩形 16"/>
          <p:cNvSpPr/>
          <p:nvPr userDrawn="1"/>
        </p:nvSpPr>
        <p:spPr>
          <a:xfrm flipV="1">
            <a:off x="1007435" y="2056890"/>
            <a:ext cx="3143272" cy="288000"/>
          </a:xfrm>
          <a:prstGeom prst="rect">
            <a:avLst/>
          </a:prstGeom>
          <a:solidFill>
            <a:srgbClr val="219080"/>
          </a:solidFill>
          <a:ln w="38100">
            <a:solidFill>
              <a:srgbClr val="219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14"/>
          </p:nvPr>
        </p:nvSpPr>
        <p:spPr>
          <a:xfrm>
            <a:off x="1402931" y="1557362"/>
            <a:ext cx="2400267" cy="863526"/>
          </a:xfrm>
        </p:spPr>
        <p:txBody>
          <a:bodyPr anchor="ctr" anchorCtr="0">
            <a:noAutofit/>
          </a:bodyPr>
          <a:lstStyle>
            <a:lvl1pPr>
              <a:lnSpc>
                <a:spcPts val="4800"/>
              </a:lnSpc>
              <a:spcBef>
                <a:spcPts val="0"/>
              </a:spcBef>
              <a:defRPr sz="10000" b="1" u="none" cap="none" spc="0" baseline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defRPr>
            </a:lvl1pPr>
          </a:lstStyle>
          <a:p>
            <a:pPr lvl="0"/>
            <a:r>
              <a:rPr lang="zh-TW" altLang="en-US" dirty="0"/>
              <a:t>按</a:t>
            </a:r>
          </a:p>
        </p:txBody>
      </p:sp>
    </p:spTree>
    <p:extLst>
      <p:ext uri="{BB962C8B-B14F-4D97-AF65-F5344CB8AC3E}">
        <p14:creationId xmlns:p14="http://schemas.microsoft.com/office/powerpoint/2010/main" val="2689209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XX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1364512"/>
            <a:ext cx="11040000" cy="5160832"/>
          </a:xfrm>
        </p:spPr>
        <p:txBody>
          <a:bodyPr/>
          <a:lstStyle>
            <a:lvl1pPr>
              <a:defRPr sz="28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-457200">
              <a:buClrTx/>
              <a:buSzPct val="100000"/>
              <a:buFont typeface="+mj-ea"/>
              <a:buAutoNum type="ea1ChtPeriod"/>
              <a:defRPr kumimoji="0" lang="zh-TW" altLang="en-US" sz="2000" b="1" u="none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457200" indent="-457200">
              <a:buClrTx/>
              <a:buSzPct val="100000"/>
              <a:buFont typeface="+mj-lt"/>
              <a:buAutoNum type="arabicPeriod"/>
              <a:defRPr kumimoji="0" lang="zh-TW" altLang="en-US" sz="2000" b="0" u="none" kern="1200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 sz="2000"/>
            </a:lvl4pPr>
            <a:lvl5pPr>
              <a:lnSpc>
                <a:spcPts val="2800"/>
              </a:lnSpc>
              <a:defRPr sz="20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26955"/>
            <a:ext cx="772165" cy="646331"/>
            <a:chOff x="8286776" y="6126954"/>
            <a:chExt cx="579124" cy="646331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23A8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26954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  <p:sp>
        <p:nvSpPr>
          <p:cNvPr id="8" name="標題版面配置區 21"/>
          <p:cNvSpPr>
            <a:spLocks noGrp="1"/>
          </p:cNvSpPr>
          <p:nvPr>
            <p:ph type="title"/>
          </p:nvPr>
        </p:nvSpPr>
        <p:spPr>
          <a:xfrm>
            <a:off x="563915" y="764704"/>
            <a:ext cx="11100704" cy="576064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43223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1pPr>
              <a:defRPr sz="28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-457200">
              <a:buClrTx/>
              <a:buSzPct val="100000"/>
              <a:buFont typeface="+mj-ea"/>
              <a:buAutoNum type="ea1ChtPeriod"/>
              <a:defRPr kumimoji="0" lang="zh-TW" altLang="en-US" sz="2000" b="1" u="none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457200" indent="-457200">
              <a:buClrTx/>
              <a:buSzPct val="100000"/>
              <a:buFont typeface="+mj-lt"/>
              <a:buAutoNum type="arabicPeriod"/>
              <a:defRPr kumimoji="0" lang="zh-TW" altLang="en-US" sz="2000" b="0" u="none" kern="1200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 sz="2000"/>
            </a:lvl4pPr>
            <a:lvl5pPr>
              <a:lnSpc>
                <a:spcPts val="2800"/>
              </a:lnSpc>
              <a:defRPr sz="20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6405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defRPr kumimoji="0" lang="zh-TW" altLang="en-US" sz="25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60558"/>
            <a:ext cx="772165" cy="652819"/>
            <a:chOff x="8286776" y="6160557"/>
            <a:chExt cx="579124" cy="652819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786CAE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67045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3017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100834"/>
            <a:ext cx="11040000" cy="540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>
              <a:defRPr>
                <a:solidFill>
                  <a:srgbClr val="C67A48"/>
                </a:solidFill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7409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5999" y="648000"/>
            <a:ext cx="5423991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648000"/>
            <a:ext cx="5281083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8008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007999"/>
            <a:ext cx="5423989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1008000"/>
            <a:ext cx="5280000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6260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範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268072"/>
            <a:ext cx="10752667" cy="1728880"/>
          </a:xfrm>
          <a:ln w="19050" cmpd="sng">
            <a:gradFill>
              <a:gsLst>
                <a:gs pos="0">
                  <a:schemeClr val="bg1"/>
                </a:gs>
                <a:gs pos="68000">
                  <a:srgbClr val="EB5405"/>
                </a:gs>
                <a:gs pos="100000">
                  <a:srgbClr val="EB5405"/>
                </a:gs>
              </a:gsLst>
              <a:lin ang="4200000" scaled="0"/>
            </a:gradFill>
          </a:ln>
        </p:spPr>
        <p:txBody>
          <a:bodyPr wrap="square" lIns="252000" tIns="360000" rIns="180000" bIns="72000">
            <a:noAutofit/>
          </a:bodyPr>
          <a:lstStyle>
            <a:lvl1pPr>
              <a:lnSpc>
                <a:spcPts val="2400"/>
              </a:lnSpc>
              <a:spcBef>
                <a:spcPts val="600"/>
              </a:spcBef>
              <a:defRPr sz="1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987971"/>
            <a:ext cx="4420350" cy="488201"/>
          </a:xfrm>
          <a:gradFill flip="none" rotWithShape="1">
            <a:gsLst>
              <a:gs pos="0">
                <a:schemeClr val="bg1"/>
              </a:gs>
              <a:gs pos="50000">
                <a:srgbClr val="EB5405"/>
              </a:gs>
              <a:gs pos="100000">
                <a:schemeClr val="accent6"/>
              </a:gs>
            </a:gsLst>
            <a:lin ang="14400000" scaled="0"/>
            <a:tileRect/>
          </a:gra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wrap="none" lIns="180000" tIns="72000" rIns="5400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42568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圖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484785"/>
            <a:ext cx="10752667" cy="3189921"/>
          </a:xfrm>
          <a:ln w="19050" cmpd="sng">
            <a:gradFill>
              <a:gsLst>
                <a:gs pos="0">
                  <a:schemeClr val="bg1"/>
                </a:gs>
                <a:gs pos="68000">
                  <a:srgbClr val="BE2856"/>
                </a:gs>
                <a:gs pos="100000">
                  <a:srgbClr val="3D3B5F"/>
                </a:gs>
              </a:gsLst>
              <a:lin ang="4200000" scaled="0"/>
            </a:gradFill>
          </a:ln>
        </p:spPr>
        <p:txBody>
          <a:bodyPr lIns="252000" tIns="360000" rIns="180000" bIns="72000">
            <a:spAutoFit/>
          </a:bodyPr>
          <a:lstStyle>
            <a:lvl1pPr>
              <a:lnSpc>
                <a:spcPts val="2400"/>
              </a:lnSpc>
              <a:defRPr sz="2200" b="0">
                <a:solidFill>
                  <a:schemeClr val="tx1"/>
                </a:solidFill>
              </a:defRPr>
            </a:lvl1pPr>
            <a:lvl2pPr>
              <a:defRPr>
                <a:solidFill>
                  <a:srgbClr val="8FC32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5pPr>
              <a:buClr>
                <a:srgbClr val="B5D14F"/>
              </a:buClr>
              <a:buFont typeface="Wingdings" pitchFamily="2" charset="2"/>
              <a:buChar char="n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zh-TW" altLang="en-US" dirty="0"/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1196753"/>
            <a:ext cx="6240693" cy="504056"/>
          </a:xfrm>
          <a:gradFill flip="none" rotWithShape="1"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14400000" scaled="0"/>
            <a:tileRect/>
          </a:gra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lIns="180000" tIns="72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856549" y="6200930"/>
            <a:ext cx="1399024" cy="503533"/>
            <a:chOff x="899592" y="6237835"/>
            <a:chExt cx="1049268" cy="503533"/>
          </a:xfrm>
        </p:grpSpPr>
        <p:sp>
          <p:nvSpPr>
            <p:cNvPr id="18" name="弧形向右箭號 17"/>
            <p:cNvSpPr/>
            <p:nvPr/>
          </p:nvSpPr>
          <p:spPr>
            <a:xfrm rot="612716">
              <a:off x="899592" y="6237835"/>
              <a:ext cx="440592" cy="503533"/>
            </a:xfrm>
            <a:prstGeom prst="curvedRightArrow">
              <a:avLst/>
            </a:prstGeom>
            <a:gradFill>
              <a:gsLst>
                <a:gs pos="0">
                  <a:schemeClr val="bg1"/>
                </a:gs>
                <a:gs pos="50000">
                  <a:srgbClr val="BE2856"/>
                </a:gs>
                <a:gs pos="100000">
                  <a:srgbClr val="3D3B5F"/>
                </a:gs>
              </a:gsLst>
              <a:lin ang="3600000" scaled="0"/>
            </a:gradFill>
            <a:ln w="95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940748" y="6304512"/>
              <a:ext cx="1008112" cy="3077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rgbClr val="3D3B5F"/>
                  </a:solidFill>
                </a:rPr>
                <a:t>續下頁</a:t>
              </a:r>
            </a:p>
          </p:txBody>
        </p:sp>
      </p:grpSp>
      <p:cxnSp>
        <p:nvCxnSpPr>
          <p:cNvPr id="8" name="直線單箭頭接點 7"/>
          <p:cNvCxnSpPr/>
          <p:nvPr userDrawn="1"/>
        </p:nvCxnSpPr>
        <p:spPr>
          <a:xfrm>
            <a:off x="2639616" y="6021288"/>
            <a:ext cx="480053" cy="648072"/>
          </a:xfrm>
          <a:prstGeom prst="straightConnector1">
            <a:avLst/>
          </a:prstGeom>
          <a:ln>
            <a:solidFill>
              <a:srgbClr val="BE2856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 userDrawn="1"/>
        </p:nvCxnSpPr>
        <p:spPr>
          <a:xfrm>
            <a:off x="3503712" y="6237312"/>
            <a:ext cx="2976331" cy="0"/>
          </a:xfrm>
          <a:prstGeom prst="line">
            <a:avLst/>
          </a:prstGeom>
          <a:ln w="38100" cmpd="sng">
            <a:solidFill>
              <a:srgbClr val="BE28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7056107" y="5949280"/>
            <a:ext cx="480053" cy="432048"/>
          </a:xfrm>
          <a:prstGeom prst="rect">
            <a:avLst/>
          </a:prstGeom>
          <a:solidFill>
            <a:srgbClr val="4679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7824192" y="5949280"/>
            <a:ext cx="480053" cy="432048"/>
          </a:xfrm>
          <a:prstGeom prst="rect">
            <a:avLst/>
          </a:prstGeom>
          <a:solidFill>
            <a:srgbClr val="8F3B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8976320" y="5605201"/>
            <a:ext cx="772165" cy="646331"/>
            <a:chOff x="6732240" y="5605200"/>
            <a:chExt cx="579124" cy="646331"/>
          </a:xfrm>
          <a:solidFill>
            <a:srgbClr val="8FC320"/>
          </a:solidFill>
        </p:grpSpPr>
        <p:sp>
          <p:nvSpPr>
            <p:cNvPr id="12" name="橢圓形圖說文字 11"/>
            <p:cNvSpPr/>
            <p:nvPr userDrawn="1"/>
          </p:nvSpPr>
          <p:spPr>
            <a:xfrm flipH="1">
              <a:off x="6732240" y="5622113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13" name="文字方塊 12"/>
            <p:cNvSpPr txBox="1"/>
            <p:nvPr userDrawn="1"/>
          </p:nvSpPr>
          <p:spPr>
            <a:xfrm>
              <a:off x="6778800" y="5605200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bg2"/>
                  </a:solidFill>
                </a:rPr>
                <a:t>回</a:t>
              </a:r>
              <a:endParaRPr lang="en-US" altLang="zh-TW" sz="2400" b="1" dirty="0">
                <a:solidFill>
                  <a:schemeClr val="bg2"/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bg2"/>
                  </a:solidFill>
                </a:rPr>
                <a:t>首頁</a:t>
              </a:r>
            </a:p>
          </p:txBody>
        </p:sp>
      </p:grpSp>
      <p:sp>
        <p:nvSpPr>
          <p:cNvPr id="20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0224459" y="6021288"/>
            <a:ext cx="1665600" cy="468000"/>
          </a:xfrm>
          <a:gradFill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3600000" scaled="0"/>
          </a:gradFill>
          <a:ln>
            <a:solidFill>
              <a:schemeClr val="bg1"/>
            </a:solidFill>
          </a:ln>
          <a:effectLst>
            <a:outerShdw blurRad="25400" dist="12700" dir="13500000" algn="br" rotWithShape="0">
              <a:prstClr val="black">
                <a:alpha val="40000"/>
              </a:prstClr>
            </a:outerShdw>
          </a:effectLst>
        </p:spPr>
        <p:txBody>
          <a:bodyPr lIns="90000" tIns="0">
            <a:noAutofit/>
          </a:bodyPr>
          <a:lstStyle>
            <a:lvl1pPr algn="r"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dirty="0"/>
              <a:t>按一下以編輯母片文字</a:t>
            </a:r>
          </a:p>
        </p:txBody>
      </p:sp>
    </p:spTree>
    <p:extLst>
      <p:ext uri="{BB962C8B-B14F-4D97-AF65-F5344CB8AC3E}">
        <p14:creationId xmlns:p14="http://schemas.microsoft.com/office/powerpoint/2010/main" val="100464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F1F1FDA-40B4-D28E-4A2E-71D86946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E5CFEB-6CCB-B618-769A-14F848F58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844D62-F6B4-A795-9898-80CE36EB0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36E49-121A-4673-BAE9-1F059CD35926}" type="datetimeFigureOut">
              <a:rPr lang="zh-TW" altLang="en-US" smtClean="0"/>
              <a:t>2026/10/7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2478D5-45E2-42FF-3451-0A4A5BB02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39E074-3EFB-750E-F498-403C9DD9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0006B-1D97-4F64-9003-F1778B806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27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812800" y="836712"/>
            <a:ext cx="10871200" cy="57606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816864" y="1484784"/>
            <a:ext cx="10871200" cy="452628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  <a:endParaRPr kumimoji="0" lang="en-US" altLang="zh-TW" dirty="0"/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6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68027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216000" indent="-216000" algn="l" rtl="0" eaLnBrk="1" latinLnBrk="0" hangingPunct="1">
        <a:lnSpc>
          <a:spcPts val="3400"/>
        </a:lnSpc>
        <a:spcBef>
          <a:spcPct val="0"/>
        </a:spcBef>
        <a:buSzPct val="8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j-cs"/>
        </a:defRPr>
      </a:lvl1pPr>
    </p:titleStyle>
    <p:bodyStyle>
      <a:lvl1pPr marL="0" indent="0" algn="l" rtl="0" eaLnBrk="1" latinLnBrk="0" hangingPunct="1">
        <a:lnSpc>
          <a:spcPct val="150000"/>
        </a:lnSpc>
        <a:spcBef>
          <a:spcPts val="0"/>
        </a:spcBef>
        <a:buClr>
          <a:schemeClr val="accent3">
            <a:lumMod val="75000"/>
          </a:schemeClr>
        </a:buClr>
        <a:buSzPct val="10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n-cs"/>
        </a:defRPr>
      </a:lvl1pPr>
      <a:lvl2pPr marL="0" indent="0" algn="l" rtl="0" eaLnBrk="1" latinLnBrk="0" hangingPunct="1">
        <a:lnSpc>
          <a:spcPct val="100000"/>
        </a:lnSpc>
        <a:spcBef>
          <a:spcPts val="1200"/>
        </a:spcBef>
        <a:buClr>
          <a:schemeClr val="accent3">
            <a:lumMod val="75000"/>
          </a:schemeClr>
        </a:buClr>
        <a:buSzPct val="90000"/>
        <a:buFontTx/>
        <a:buNone/>
        <a:defRPr kumimoji="0" sz="2800" b="1" kern="1200">
          <a:solidFill>
            <a:srgbClr val="8FC320"/>
          </a:solidFill>
          <a:latin typeface="+mj-ea"/>
          <a:ea typeface="+mj-ea"/>
          <a:cs typeface="+mn-cs"/>
        </a:defRPr>
      </a:lvl2pPr>
      <a:lvl3pPr marL="360000" indent="-360000" algn="l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rgbClr val="AE2A7F"/>
        </a:buClr>
        <a:buSzPct val="90000"/>
        <a:buFontTx/>
        <a:buNone/>
        <a:defRPr kumimoji="0" sz="2500" b="1" u="dottedHeavy" kern="1200" baseline="0">
          <a:solidFill>
            <a:srgbClr val="C67A48"/>
          </a:solidFill>
          <a:latin typeface="+mj-ea"/>
          <a:ea typeface="+mj-ea"/>
          <a:cs typeface="+mn-cs"/>
        </a:defRPr>
      </a:lvl3pPr>
      <a:lvl4pPr marL="0" indent="-288000" algn="l" rtl="0" eaLnBrk="1" latinLnBrk="0" hangingPunct="1">
        <a:lnSpc>
          <a:spcPts val="2800"/>
        </a:lnSpc>
        <a:spcBef>
          <a:spcPts val="800"/>
        </a:spcBef>
        <a:spcAft>
          <a:spcPts val="0"/>
        </a:spcAft>
        <a:buClr>
          <a:srgbClr val="AE2A7F"/>
        </a:buClr>
        <a:buSzPct val="90000"/>
        <a:buFontTx/>
        <a:buNone/>
        <a:defRPr kumimoji="0"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360000" marR="0" indent="-342900" algn="l" defTabSz="914400" rtl="0" eaLnBrk="1" fontAlgn="auto" latinLnBrk="0" hangingPunct="1">
        <a:lnSpc>
          <a:spcPts val="2800"/>
        </a:lnSpc>
        <a:spcBef>
          <a:spcPts val="600"/>
        </a:spcBef>
        <a:spcAft>
          <a:spcPts val="0"/>
        </a:spcAft>
        <a:buClrTx/>
        <a:buSzPct val="100000"/>
        <a:buFont typeface="+mj-lt"/>
        <a:buAutoNum type="arabicPeriod"/>
        <a:tabLst/>
        <a:defRPr kumimoji="0" sz="1800" b="0" kern="1200">
          <a:solidFill>
            <a:schemeClr val="tx1"/>
          </a:solidFill>
          <a:latin typeface="+mj-ea"/>
          <a:ea typeface="+mj-ea"/>
          <a:cs typeface="+mn-cs"/>
        </a:defRPr>
      </a:lvl5pPr>
      <a:lvl6pPr marL="360000" indent="-342000" algn="l" rtl="0" eaLnBrk="1" latinLnBrk="0" hangingPunct="1">
        <a:lnSpc>
          <a:spcPct val="100000"/>
        </a:lnSpc>
        <a:spcBef>
          <a:spcPts val="600"/>
        </a:spcBef>
        <a:buClr>
          <a:srgbClr val="C67A48"/>
        </a:buClr>
        <a:buFont typeface="Wingdings" pitchFamily="2" charset="2"/>
        <a:buChar char="n"/>
        <a:defRPr kumimoji="0" sz="1800" kern="1200" baseline="0">
          <a:solidFill>
            <a:schemeClr val="tx1"/>
          </a:solidFill>
          <a:latin typeface="+mn-ea"/>
          <a:ea typeface="+mn-ea"/>
          <a:cs typeface="+mn-cs"/>
        </a:defRPr>
      </a:lvl6pPr>
      <a:lvl7pPr marL="936000" indent="-228600" algn="l" rtl="0" eaLnBrk="1" latinLnBrk="0" hangingPunct="1">
        <a:spcBef>
          <a:spcPts val="600"/>
        </a:spcBef>
        <a:buClrTx/>
        <a:buFont typeface="Wingdings" pitchFamily="2" charset="2"/>
        <a:buChar char="n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88FD52-29EC-09B4-66CE-20214C6099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E577466-1E36-1E9A-03D8-F717AC5C32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60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5124D8-F8CA-6D0A-8928-EDD8A452F8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4522" y="1513597"/>
            <a:ext cx="10515600" cy="5160832"/>
          </a:xfrm>
        </p:spPr>
        <p:txBody>
          <a:bodyPr/>
          <a:lstStyle/>
          <a:p>
            <a:pPr marL="0" lvl="2" indent="0">
              <a:buNone/>
            </a:pPr>
            <a:r>
              <a:rPr lang="zh-TW" altLang="en-US" sz="2800" dirty="0"/>
              <a:t>所謂電腦網路（</a:t>
            </a:r>
            <a:r>
              <a:rPr lang="en-US" altLang="zh-TW" sz="2800" dirty="0"/>
              <a:t>computer network</a:t>
            </a:r>
            <a:r>
              <a:rPr lang="zh-TW" altLang="en-US" sz="2800" dirty="0"/>
              <a:t>）是指電腦與電腦之間利用纜線連結，以達到資料傳輸及資源共享的目的。</a:t>
            </a:r>
            <a:endParaRPr lang="en-US" altLang="zh-TW" sz="2800" dirty="0"/>
          </a:p>
          <a:p>
            <a:pPr marL="0" lvl="2" indent="0">
              <a:buNone/>
            </a:pPr>
            <a:endParaRPr lang="en-US" altLang="zh-TW" sz="2800" dirty="0"/>
          </a:p>
          <a:p>
            <a:pPr marL="0" lvl="2" indent="0">
              <a:buNone/>
            </a:pPr>
            <a:r>
              <a:rPr lang="zh-TW" altLang="en-US" sz="2800" dirty="0"/>
              <a:t>依網路連結的規模大小可以分為</a:t>
            </a:r>
            <a:r>
              <a:rPr lang="zh-TW" altLang="en-US" sz="2800" dirty="0">
                <a:solidFill>
                  <a:srgbClr val="FF0000"/>
                </a:solidFill>
              </a:rPr>
              <a:t>區域網路</a:t>
            </a:r>
            <a:r>
              <a:rPr lang="zh-TW" altLang="en-US" sz="2800" dirty="0"/>
              <a:t>（</a:t>
            </a:r>
            <a:r>
              <a:rPr lang="en-US" altLang="zh-TW" sz="2800" dirty="0"/>
              <a:t>Local Area Network</a:t>
            </a:r>
            <a:r>
              <a:rPr lang="zh-TW" altLang="en-US" sz="2800" dirty="0"/>
              <a:t>，簡稱</a:t>
            </a:r>
            <a:r>
              <a:rPr lang="en-US" altLang="zh-TW" sz="2800" dirty="0"/>
              <a:t>LAN</a:t>
            </a:r>
            <a:r>
              <a:rPr lang="zh-TW" altLang="en-US" sz="2800" dirty="0"/>
              <a:t>）及</a:t>
            </a:r>
            <a:r>
              <a:rPr lang="zh-TW" altLang="en-US" sz="2800" dirty="0">
                <a:solidFill>
                  <a:srgbClr val="FF0000"/>
                </a:solidFill>
              </a:rPr>
              <a:t>廣域網路</a:t>
            </a:r>
            <a:r>
              <a:rPr lang="zh-TW" altLang="en-US" sz="2800" dirty="0"/>
              <a:t>（</a:t>
            </a:r>
            <a:r>
              <a:rPr lang="en-US" altLang="zh-TW" sz="2800" dirty="0"/>
              <a:t>Wide Area Network</a:t>
            </a:r>
            <a:r>
              <a:rPr lang="zh-TW" altLang="en-US" sz="2800" dirty="0"/>
              <a:t>，簡稱</a:t>
            </a:r>
            <a:r>
              <a:rPr lang="en-US" altLang="zh-TW" sz="2800" dirty="0"/>
              <a:t>WAN</a:t>
            </a:r>
            <a:r>
              <a:rPr lang="zh-TW" altLang="en-US" sz="2800" dirty="0"/>
              <a:t>），現今所使用的網際網路（</a:t>
            </a:r>
            <a:r>
              <a:rPr lang="en-US" altLang="zh-TW" sz="2800" dirty="0"/>
              <a:t>Internet</a:t>
            </a:r>
            <a:r>
              <a:rPr lang="zh-TW" altLang="en-US" sz="2800" dirty="0"/>
              <a:t>）即是</a:t>
            </a:r>
            <a:r>
              <a:rPr lang="en-US" altLang="zh-TW" sz="2800" dirty="0"/>
              <a:t>WAN </a:t>
            </a:r>
            <a:r>
              <a:rPr lang="zh-TW" altLang="en-US" sz="2800" dirty="0"/>
              <a:t>的一種應用。</a:t>
            </a:r>
            <a:endParaRPr lang="en-US" altLang="zh-TW" sz="2800" dirty="0"/>
          </a:p>
          <a:p>
            <a:pPr marL="0" lvl="2" indent="0">
              <a:buNone/>
            </a:pPr>
            <a:endParaRPr lang="en-US" altLang="zh-TW" sz="2800" dirty="0"/>
          </a:p>
          <a:p>
            <a:pPr marL="0" lvl="2" indent="0">
              <a:buNone/>
            </a:pPr>
            <a:r>
              <a:rPr lang="en-US" altLang="zh-TW" sz="2800" b="1" dirty="0"/>
              <a:t>Wi-Fi </a:t>
            </a:r>
            <a:r>
              <a:rPr lang="zh-TW" altLang="en-US" sz="2800" b="1" dirty="0"/>
              <a:t>使用</a:t>
            </a:r>
            <a:r>
              <a:rPr lang="en-US" altLang="zh-TW" sz="2800" b="1" dirty="0"/>
              <a:t>IEEE 802.11 </a:t>
            </a:r>
            <a:r>
              <a:rPr lang="zh-TW" altLang="en-US" sz="2800" b="1" dirty="0"/>
              <a:t>規範的無線區域網路（</a:t>
            </a:r>
            <a:r>
              <a:rPr lang="en-US" altLang="zh-TW" sz="2800" b="1" dirty="0"/>
              <a:t>Wireless Local Area Network</a:t>
            </a:r>
            <a:r>
              <a:rPr lang="zh-TW" altLang="en-US" sz="2800" b="1" dirty="0"/>
              <a:t>，簡稱</a:t>
            </a:r>
            <a:r>
              <a:rPr lang="en-US" altLang="zh-TW" sz="2800" b="1" dirty="0"/>
              <a:t>WLAN</a:t>
            </a:r>
            <a:r>
              <a:rPr lang="zh-TW" altLang="en-US" sz="2800" b="1" dirty="0"/>
              <a:t>）標準及</a:t>
            </a:r>
            <a:r>
              <a:rPr lang="en-US" altLang="zh-TW" sz="2800" b="1" dirty="0"/>
              <a:t>TCP/IP </a:t>
            </a:r>
            <a:r>
              <a:rPr lang="zh-TW" altLang="en-US" sz="2800" b="1" dirty="0"/>
              <a:t>協定</a:t>
            </a:r>
            <a:r>
              <a:rPr lang="zh-TW" altLang="en-US" sz="2800" dirty="0"/>
              <a:t>，所以在區域網路的設備或裝置，可以透過</a:t>
            </a:r>
            <a:r>
              <a:rPr lang="en-US" altLang="zh-TW" sz="2800" dirty="0"/>
              <a:t>Wi-Fi </a:t>
            </a:r>
            <a:r>
              <a:rPr lang="zh-TW" altLang="en-US" sz="2800" dirty="0"/>
              <a:t>連上網際網路。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4DF6469-0B44-D408-D15F-E0ADD5CA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13-1 </a:t>
            </a:r>
            <a:r>
              <a:rPr lang="zh-TW" altLang="en-US" dirty="0"/>
              <a:t>認識電腦網路</a:t>
            </a:r>
          </a:p>
        </p:txBody>
      </p:sp>
    </p:spTree>
    <p:extLst>
      <p:ext uri="{BB962C8B-B14F-4D97-AF65-F5344CB8AC3E}">
        <p14:creationId xmlns:p14="http://schemas.microsoft.com/office/powerpoint/2010/main" val="146506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r>
              <a:rPr lang="en-US" altLang="zh-TW" dirty="0"/>
              <a:t>13-1-1 </a:t>
            </a:r>
            <a:r>
              <a:rPr lang="zh-TW" altLang="en-US" dirty="0"/>
              <a:t>區域網路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b="1" dirty="0"/>
              <a:t>私用</a:t>
            </a:r>
            <a:r>
              <a:rPr lang="en-US" altLang="zh-TW" b="1" dirty="0"/>
              <a:t>IP </a:t>
            </a:r>
            <a:r>
              <a:rPr lang="zh-TW" altLang="en-US" b="1" dirty="0"/>
              <a:t>位址只能在區域網路內互連，無法直接連接外部網際網路。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BE16417-48D6-4A6D-ABB8-644883A4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170" y="1916833"/>
            <a:ext cx="6554115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6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460481" cy="5760000"/>
          </a:xfrm>
        </p:spPr>
        <p:txBody>
          <a:bodyPr/>
          <a:lstStyle/>
          <a:p>
            <a:r>
              <a:rPr lang="en-US" altLang="zh-TW" dirty="0"/>
              <a:t>13-1-2 IP </a:t>
            </a:r>
            <a:r>
              <a:rPr lang="zh-TW" altLang="en-US" dirty="0"/>
              <a:t>位址</a:t>
            </a:r>
          </a:p>
          <a:p>
            <a:pPr marL="0" lvl="2" indent="0">
              <a:buNone/>
            </a:pPr>
            <a:r>
              <a:rPr lang="en-US" altLang="zh-TW" dirty="0"/>
              <a:t>IP </a:t>
            </a:r>
            <a:r>
              <a:rPr lang="zh-TW" altLang="en-US" dirty="0"/>
              <a:t>位址可以分成私用（</a:t>
            </a:r>
            <a:r>
              <a:rPr lang="en-US" altLang="zh-TW" dirty="0"/>
              <a:t>private</a:t>
            </a:r>
            <a:r>
              <a:rPr lang="zh-TW" altLang="en-US" dirty="0"/>
              <a:t>）</a:t>
            </a:r>
            <a:r>
              <a:rPr lang="en-US" altLang="zh-TW" dirty="0"/>
              <a:t>IP </a:t>
            </a:r>
            <a:r>
              <a:rPr lang="zh-TW" altLang="en-US" dirty="0"/>
              <a:t>位址及公用（</a:t>
            </a:r>
            <a:r>
              <a:rPr lang="en-US" altLang="zh-TW" dirty="0"/>
              <a:t>public</a:t>
            </a:r>
            <a:r>
              <a:rPr lang="zh-TW" altLang="en-US" dirty="0"/>
              <a:t>）</a:t>
            </a:r>
            <a:r>
              <a:rPr lang="en-US" altLang="zh-TW" dirty="0"/>
              <a:t>IP </a:t>
            </a:r>
            <a:r>
              <a:rPr lang="zh-TW" altLang="en-US" dirty="0"/>
              <a:t>位址。</a:t>
            </a:r>
            <a:r>
              <a:rPr lang="zh-TW" altLang="en-US" b="1" dirty="0"/>
              <a:t>公用</a:t>
            </a:r>
            <a:r>
              <a:rPr lang="en-US" altLang="zh-TW" b="1" dirty="0"/>
              <a:t>IP </a:t>
            </a:r>
            <a:r>
              <a:rPr lang="zh-TW" altLang="en-US" b="1" dirty="0"/>
              <a:t>位址又稱為全球</a:t>
            </a:r>
            <a:r>
              <a:rPr lang="en-US" altLang="zh-TW" b="1" dirty="0"/>
              <a:t>IP </a:t>
            </a:r>
            <a:r>
              <a:rPr lang="zh-TW" altLang="en-US" b="1" dirty="0"/>
              <a:t>位址，是網際網路用來識別主機或網路裝置的識別碼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b="1" dirty="0"/>
              <a:t>公用</a:t>
            </a:r>
            <a:r>
              <a:rPr lang="en-US" altLang="zh-TW" b="1" dirty="0"/>
              <a:t>IP </a:t>
            </a:r>
            <a:r>
              <a:rPr lang="zh-TW" altLang="en-US" b="1" dirty="0"/>
              <a:t>位址如同家用電話號碼</a:t>
            </a:r>
            <a:r>
              <a:rPr lang="zh-TW" altLang="en-US" dirty="0"/>
              <a:t>，需要向電信公司申請，每個電話號碼都是唯一不可重覆。</a:t>
            </a:r>
            <a:r>
              <a:rPr lang="zh-TW" altLang="en-US" b="1" dirty="0"/>
              <a:t>私用</a:t>
            </a:r>
            <a:r>
              <a:rPr lang="en-US" altLang="zh-TW" b="1" dirty="0"/>
              <a:t>IP </a:t>
            </a:r>
            <a:r>
              <a:rPr lang="zh-TW" altLang="en-US" b="1" dirty="0"/>
              <a:t>位址如同電話分機</a:t>
            </a:r>
            <a:r>
              <a:rPr lang="zh-TW" altLang="en-US" dirty="0"/>
              <a:t>，是由寬頻分享器分配，不需申請而且隨時可以更改。</a:t>
            </a:r>
          </a:p>
          <a:p>
            <a:r>
              <a:rPr lang="en-US" altLang="zh-TW" dirty="0"/>
              <a:t>13-1-3 IPv4 </a:t>
            </a:r>
            <a:r>
              <a:rPr lang="zh-TW" altLang="en-US" dirty="0"/>
              <a:t>位址及</a:t>
            </a:r>
            <a:r>
              <a:rPr lang="en-US" altLang="zh-TW" dirty="0"/>
              <a:t>IPv6 </a:t>
            </a:r>
            <a:r>
              <a:rPr lang="zh-TW" altLang="en-US" dirty="0"/>
              <a:t>位址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dirty="0"/>
              <a:t>IPv4 </a:t>
            </a:r>
            <a:r>
              <a:rPr lang="zh-TW" altLang="en-US" dirty="0"/>
              <a:t>位址是以</a:t>
            </a:r>
            <a:r>
              <a:rPr lang="zh-TW" altLang="en-US" b="1" dirty="0"/>
              <a:t>四個位元組（</a:t>
            </a:r>
            <a:r>
              <a:rPr lang="en-US" altLang="zh-TW" b="1" dirty="0"/>
              <a:t>32 </a:t>
            </a:r>
            <a:r>
              <a:rPr lang="zh-TW" altLang="en-US" b="1" dirty="0"/>
              <a:t>位元）來表示，彼此之間再以點符號 </a:t>
            </a:r>
            <a:r>
              <a:rPr lang="en-US" altLang="zh-TW" b="1" dirty="0"/>
              <a:t>"." </a:t>
            </a:r>
            <a:r>
              <a:rPr lang="zh-TW" altLang="en-US" b="1" dirty="0"/>
              <a:t>做為區隔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00B124D-5E05-4A86-9737-3F070BEA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4" y="4509121"/>
            <a:ext cx="4896544" cy="21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8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zh-TW" altLang="en-US" dirty="0"/>
              <a:t>如表</a:t>
            </a:r>
            <a:r>
              <a:rPr lang="en-US" altLang="zh-TW" dirty="0"/>
              <a:t>13-1 </a:t>
            </a:r>
            <a:r>
              <a:rPr lang="zh-TW" altLang="en-US" dirty="0"/>
              <a:t>所示</a:t>
            </a:r>
            <a:r>
              <a:rPr lang="en-US" altLang="zh-TW" dirty="0"/>
              <a:t>IPv4 </a:t>
            </a:r>
            <a:r>
              <a:rPr lang="zh-TW" altLang="en-US" dirty="0"/>
              <a:t>位址的分類及範圍，不同機構對於</a:t>
            </a:r>
            <a:r>
              <a:rPr lang="en-US" altLang="zh-TW" dirty="0"/>
              <a:t>IP </a:t>
            </a:r>
            <a:r>
              <a:rPr lang="zh-TW" altLang="en-US" dirty="0"/>
              <a:t>位址的需求量不同，可以分為</a:t>
            </a:r>
            <a:r>
              <a:rPr lang="en-US" altLang="zh-TW" dirty="0"/>
              <a:t>A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、</a:t>
            </a:r>
            <a:r>
              <a:rPr lang="en-US" altLang="zh-TW" dirty="0"/>
              <a:t>C</a:t>
            </a:r>
            <a:r>
              <a:rPr lang="zh-TW" altLang="en-US" dirty="0"/>
              <a:t>、</a:t>
            </a:r>
            <a:r>
              <a:rPr lang="en-US" altLang="zh-TW" dirty="0"/>
              <a:t>D</a:t>
            </a:r>
            <a:r>
              <a:rPr lang="zh-TW" altLang="en-US" dirty="0"/>
              <a:t>、</a:t>
            </a:r>
            <a:r>
              <a:rPr lang="en-US" altLang="zh-TW" dirty="0"/>
              <a:t>E </a:t>
            </a:r>
            <a:r>
              <a:rPr lang="zh-TW" altLang="en-US" dirty="0"/>
              <a:t>五種等級（</a:t>
            </a:r>
            <a:r>
              <a:rPr lang="en-US" altLang="zh-TW" dirty="0"/>
              <a:t>Class</a:t>
            </a:r>
            <a:r>
              <a:rPr lang="zh-TW" altLang="en-US" dirty="0"/>
              <a:t>）。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b="1" dirty="0"/>
              <a:t>Class C </a:t>
            </a:r>
            <a:r>
              <a:rPr lang="zh-TW" altLang="en-US" b="1" dirty="0"/>
              <a:t>是</a:t>
            </a:r>
            <a:r>
              <a:rPr lang="en-US" altLang="zh-TW" b="1" dirty="0"/>
              <a:t>ISP </a:t>
            </a:r>
            <a:r>
              <a:rPr lang="zh-TW" altLang="en-US" b="1" dirty="0"/>
              <a:t>服務商及小型企業使用。</a:t>
            </a:r>
            <a:endParaRPr lang="en-US" altLang="zh-TW" b="1" dirty="0"/>
          </a:p>
          <a:p>
            <a:pPr marL="0" lvl="2" indent="0">
              <a:buNone/>
            </a:pP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A2C4523-E471-464F-912B-B01FA396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8" y="1988841"/>
            <a:ext cx="7524328" cy="23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3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en-US" altLang="zh-TW" b="1" dirty="0"/>
              <a:t>IPv4 </a:t>
            </a:r>
            <a:r>
              <a:rPr lang="zh-TW" altLang="en-US" b="1" dirty="0"/>
              <a:t>位址包含網路名稱（</a:t>
            </a:r>
            <a:r>
              <a:rPr lang="en-US" altLang="zh-TW" b="1" dirty="0"/>
              <a:t>Net ID</a:t>
            </a:r>
            <a:r>
              <a:rPr lang="zh-TW" altLang="en-US" b="1" dirty="0"/>
              <a:t>）及主機名稱（</a:t>
            </a:r>
            <a:r>
              <a:rPr lang="en-US" altLang="zh-TW" b="1" dirty="0"/>
              <a:t>Host ID</a:t>
            </a:r>
            <a:r>
              <a:rPr lang="zh-TW" altLang="en-US" b="1" dirty="0"/>
              <a:t>），網路名稱用來識別所屬網路，主機名稱用來識別該網路中的設備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dirty="0"/>
              <a:t>Class C </a:t>
            </a:r>
            <a:r>
              <a:rPr lang="zh-TW" altLang="en-US" dirty="0"/>
              <a:t>的網路數量有</a:t>
            </a:r>
            <a:r>
              <a:rPr lang="en-US" altLang="zh-TW" dirty="0"/>
              <a:t>221 = 2,097,152 </a:t>
            </a:r>
            <a:r>
              <a:rPr lang="zh-TW" altLang="en-US" dirty="0"/>
              <a:t>個，主機數量有</a:t>
            </a:r>
            <a:r>
              <a:rPr lang="en-US" altLang="zh-TW" dirty="0"/>
              <a:t>28 – 2 = 254</a:t>
            </a:r>
            <a:r>
              <a:rPr lang="zh-TW" altLang="en-US" dirty="0"/>
              <a:t>。當主機名稱全部位元皆為</a:t>
            </a:r>
            <a:r>
              <a:rPr lang="en-US" altLang="zh-TW" dirty="0"/>
              <a:t>0 </a:t>
            </a:r>
            <a:r>
              <a:rPr lang="zh-TW" altLang="en-US" dirty="0"/>
              <a:t>時，是指網路本身識別碼；全部位元皆為</a:t>
            </a:r>
            <a:r>
              <a:rPr lang="en-US" altLang="zh-TW" dirty="0"/>
              <a:t>1 </a:t>
            </a:r>
            <a:r>
              <a:rPr lang="zh-TW" altLang="en-US" dirty="0"/>
              <a:t>時，是指該網路的廣播位址，因此主機數量會減</a:t>
            </a:r>
            <a:r>
              <a:rPr lang="en-US" altLang="zh-TW" dirty="0"/>
              <a:t>2</a:t>
            </a:r>
            <a:r>
              <a:rPr lang="zh-TW" altLang="en-US" dirty="0"/>
              <a:t>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4017B2C-2671-47A8-81B9-67E1FB5A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2739985"/>
            <a:ext cx="6008598" cy="357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8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en-US" altLang="zh-TW" b="1" dirty="0"/>
              <a:t>IPv6 </a:t>
            </a:r>
            <a:r>
              <a:rPr lang="zh-TW" altLang="en-US" b="1" dirty="0"/>
              <a:t>是以八個</a:t>
            </a:r>
            <a:r>
              <a:rPr lang="en-US" altLang="zh-TW" b="1" dirty="0"/>
              <a:t>16 </a:t>
            </a:r>
            <a:r>
              <a:rPr lang="zh-TW" altLang="en-US" b="1" dirty="0"/>
              <a:t>位元（</a:t>
            </a:r>
            <a:r>
              <a:rPr lang="en-US" altLang="zh-TW" b="1" dirty="0"/>
              <a:t>128 </a:t>
            </a:r>
            <a:r>
              <a:rPr lang="zh-TW" altLang="en-US" b="1" dirty="0"/>
              <a:t>位元）來表示，彼此之間再以冒號 </a:t>
            </a:r>
            <a:r>
              <a:rPr lang="en-US" altLang="zh-TW" b="1" dirty="0"/>
              <a:t>“:” </a:t>
            </a:r>
            <a:r>
              <a:rPr lang="zh-TW" altLang="en-US" b="1" dirty="0"/>
              <a:t>做為區隔</a:t>
            </a:r>
            <a:r>
              <a:rPr lang="zh-TW" altLang="en-US" dirty="0"/>
              <a:t>。十六進位表示</a:t>
            </a:r>
            <a:r>
              <a:rPr lang="en-US" altLang="zh-TW" dirty="0" err="1"/>
              <a:t>hhhh:hhhh:hhhh:hhhh:hhhh:hhhh:hhhh:hhhh</a:t>
            </a:r>
            <a:r>
              <a:rPr lang="en-US" altLang="zh-TW" dirty="0"/>
              <a:t> </a:t>
            </a:r>
            <a:r>
              <a:rPr lang="zh-TW" altLang="en-US" dirty="0"/>
              <a:t>形式，其中</a:t>
            </a:r>
            <a:r>
              <a:rPr lang="en-US" altLang="zh-TW" dirty="0" err="1"/>
              <a:t>hhhh</a:t>
            </a:r>
            <a:r>
              <a:rPr lang="en-US" altLang="zh-TW" dirty="0"/>
              <a:t> </a:t>
            </a:r>
            <a:r>
              <a:rPr lang="zh-TW" altLang="en-US" dirty="0"/>
              <a:t>代表介於</a:t>
            </a:r>
            <a:r>
              <a:rPr lang="en-US" altLang="zh-TW" dirty="0"/>
              <a:t>0000 ~ FFFF </a:t>
            </a:r>
            <a:r>
              <a:rPr lang="zh-TW" altLang="en-US" dirty="0"/>
              <a:t>之間的十六進位數值。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dirty="0"/>
              <a:t>IPv4 </a:t>
            </a:r>
            <a:r>
              <a:rPr lang="zh-TW" altLang="en-US" dirty="0"/>
              <a:t>與</a:t>
            </a:r>
            <a:r>
              <a:rPr lang="en-US" altLang="zh-TW" dirty="0"/>
              <a:t>IPv6 </a:t>
            </a:r>
            <a:r>
              <a:rPr lang="zh-TW" altLang="en-US" dirty="0"/>
              <a:t>只是版本上的差異，但實際上是</a:t>
            </a:r>
            <a:r>
              <a:rPr lang="zh-TW" altLang="en-US" b="1" dirty="0"/>
              <a:t>完全不同的協定，兩者不能互通</a:t>
            </a:r>
            <a:r>
              <a:rPr lang="zh-TW" altLang="en-US" dirty="0"/>
              <a:t>。</a:t>
            </a:r>
            <a:endParaRPr lang="en-US" altLang="zh-TW" dirty="0"/>
          </a:p>
          <a:p>
            <a:pPr indent="-457200"/>
            <a:r>
              <a:rPr lang="en-US" altLang="zh-TW" dirty="0"/>
              <a:t>13-1-4 </a:t>
            </a:r>
            <a:r>
              <a:rPr lang="zh-TW" altLang="en-US" dirty="0"/>
              <a:t>子網路遮罩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971D76C-B7DF-41B4-A582-832F3A76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34" y="3573017"/>
            <a:ext cx="7685187" cy="269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2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pPr marL="0" lvl="2" indent="0">
              <a:buNone/>
            </a:pPr>
            <a:r>
              <a:rPr lang="zh-TW" altLang="en-US" dirty="0"/>
              <a:t>子網路遮罩可以用來判斷多個電腦是否在同一個子網路，使用</a:t>
            </a:r>
            <a:r>
              <a:rPr lang="en-US" altLang="zh-TW" dirty="0"/>
              <a:t>AND </a:t>
            </a:r>
            <a:r>
              <a:rPr lang="zh-TW" altLang="en-US" dirty="0"/>
              <a:t>邏輯來運算。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如圖</a:t>
            </a:r>
            <a:r>
              <a:rPr lang="en-US" altLang="zh-TW" dirty="0"/>
              <a:t>13-4</a:t>
            </a:r>
            <a:r>
              <a:rPr lang="zh-TW" altLang="en-US" dirty="0"/>
              <a:t>所示子網路遮罩</a:t>
            </a:r>
            <a:r>
              <a:rPr lang="en-US" altLang="zh-TW" dirty="0"/>
              <a:t>AND </a:t>
            </a:r>
            <a:r>
              <a:rPr lang="zh-TW" altLang="en-US" dirty="0"/>
              <a:t>運算，第一台電腦的</a:t>
            </a:r>
            <a:r>
              <a:rPr lang="en-US" altLang="zh-TW" dirty="0"/>
              <a:t>IP </a:t>
            </a:r>
            <a:r>
              <a:rPr lang="zh-TW" altLang="en-US" dirty="0"/>
              <a:t>位址為</a:t>
            </a:r>
            <a:r>
              <a:rPr lang="en-US" altLang="zh-TW" dirty="0"/>
              <a:t>192.168.0.10</a:t>
            </a:r>
            <a:r>
              <a:rPr lang="zh-TW" altLang="en-US" dirty="0"/>
              <a:t>，第二台電腦的</a:t>
            </a:r>
            <a:r>
              <a:rPr lang="en-US" altLang="zh-TW" dirty="0"/>
              <a:t>IP </a:t>
            </a:r>
            <a:r>
              <a:rPr lang="zh-TW" altLang="en-US" dirty="0"/>
              <a:t>位址為</a:t>
            </a:r>
            <a:r>
              <a:rPr lang="en-US" altLang="zh-TW" dirty="0"/>
              <a:t>192.168.1.10</a:t>
            </a:r>
            <a:r>
              <a:rPr lang="zh-TW" altLang="en-US" dirty="0"/>
              <a:t>，經過</a:t>
            </a:r>
            <a:r>
              <a:rPr lang="en-US" altLang="zh-TW" dirty="0"/>
              <a:t>AND </a:t>
            </a:r>
            <a:r>
              <a:rPr lang="zh-TW" altLang="en-US" dirty="0"/>
              <a:t>運算的結果不同，並非屬於同一個子網路。</a:t>
            </a: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indent="-457200"/>
            <a:r>
              <a:rPr lang="en-US" altLang="zh-TW" dirty="0"/>
              <a:t>13-1-5 </a:t>
            </a:r>
            <a:r>
              <a:rPr lang="zh-TW" altLang="en-US" dirty="0"/>
              <a:t>預設閘道</a:t>
            </a:r>
          </a:p>
          <a:p>
            <a:pPr marL="0" lvl="2" indent="0">
              <a:buNone/>
            </a:pPr>
            <a:r>
              <a:rPr lang="zh-TW" altLang="en-US" dirty="0"/>
              <a:t>預設閘道（</a:t>
            </a:r>
            <a:r>
              <a:rPr lang="en-US" altLang="zh-TW" dirty="0"/>
              <a:t>Default Gateway</a:t>
            </a:r>
            <a:r>
              <a:rPr lang="zh-TW" altLang="en-US" dirty="0"/>
              <a:t>）是指網路連線時，封包透過路由器（</a:t>
            </a:r>
            <a:r>
              <a:rPr lang="en-US" altLang="zh-TW" dirty="0"/>
              <a:t>Router</a:t>
            </a:r>
            <a:r>
              <a:rPr lang="zh-TW" altLang="en-US" dirty="0"/>
              <a:t>）傳送的預設目的地。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9CF83C7-12E8-4D20-AB8B-7F2232926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852" y="2559426"/>
            <a:ext cx="7236296" cy="21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0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6B79CC2-CD1C-451D-BB9F-E8856EF86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771" y="74429"/>
            <a:ext cx="8315023" cy="6613450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0C77C5-58E4-430E-94B9-4D303E3107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13-1-6 </a:t>
            </a:r>
            <a:r>
              <a:rPr lang="zh-TW" altLang="en-US" dirty="0"/>
              <a:t>廣域網路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b="1" dirty="0"/>
              <a:t>固定</a:t>
            </a:r>
            <a:r>
              <a:rPr lang="en-US" altLang="zh-TW" b="1" dirty="0"/>
              <a:t>IP </a:t>
            </a:r>
            <a:r>
              <a:rPr lang="zh-TW" altLang="en-US" b="1" dirty="0"/>
              <a:t>位址或浮動</a:t>
            </a:r>
            <a:r>
              <a:rPr lang="en-US" altLang="zh-TW" b="1" dirty="0"/>
              <a:t>IP </a:t>
            </a:r>
            <a:r>
              <a:rPr lang="zh-TW" altLang="en-US" b="1" dirty="0"/>
              <a:t>位址又稱為公用</a:t>
            </a:r>
            <a:r>
              <a:rPr lang="en-US" altLang="zh-TW" b="1" dirty="0"/>
              <a:t>IP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zh-TW" altLang="en-US" dirty="0"/>
          </a:p>
        </p:txBody>
      </p:sp>
      <p:cxnSp>
        <p:nvCxnSpPr>
          <p:cNvPr id="5" name="接點: 肘形 4">
            <a:extLst>
              <a:ext uri="{FF2B5EF4-FFF2-40B4-BE49-F238E27FC236}">
                <a16:creationId xmlns:a16="http://schemas.microsoft.com/office/drawing/2014/main" id="{D6B3D9DF-12BB-B9F6-59FE-60B165DCA4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87539" y="1483241"/>
            <a:ext cx="2753833" cy="1616149"/>
          </a:xfrm>
          <a:prstGeom prst="bentConnector3">
            <a:avLst>
              <a:gd name="adj1" fmla="val 19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9A1267-FB47-DBDB-EF0E-A68DA22F36F6}"/>
              </a:ext>
            </a:extLst>
          </p:cNvPr>
          <p:cNvSpPr txBox="1"/>
          <p:nvPr/>
        </p:nvSpPr>
        <p:spPr>
          <a:xfrm>
            <a:off x="9718161" y="1945763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</a:rPr>
              <a:t>可重覆</a:t>
            </a:r>
          </a:p>
        </p:txBody>
      </p:sp>
    </p:spTree>
    <p:extLst>
      <p:ext uri="{BB962C8B-B14F-4D97-AF65-F5344CB8AC3E}">
        <p14:creationId xmlns:p14="http://schemas.microsoft.com/office/powerpoint/2010/main" val="286359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r>
              <a:rPr lang="en-US" altLang="zh-TW" dirty="0"/>
              <a:t>13-1-7 </a:t>
            </a:r>
            <a:r>
              <a:rPr lang="zh-TW" altLang="en-US" dirty="0"/>
              <a:t>無線區域網路</a:t>
            </a:r>
          </a:p>
          <a:p>
            <a:pPr marL="0" lvl="2" indent="0">
              <a:buNone/>
            </a:pPr>
            <a:r>
              <a:rPr lang="zh-TW" altLang="en-US" dirty="0"/>
              <a:t>所謂無線區域網路（</a:t>
            </a:r>
            <a:r>
              <a:rPr lang="en-US" altLang="zh-TW" dirty="0"/>
              <a:t>Wireless Local Area Network</a:t>
            </a:r>
            <a:r>
              <a:rPr lang="zh-TW" altLang="en-US" dirty="0"/>
              <a:t>，簡稱</a:t>
            </a:r>
            <a:r>
              <a:rPr lang="en-US" altLang="zh-TW" dirty="0"/>
              <a:t>WLAN</a:t>
            </a:r>
            <a:r>
              <a:rPr lang="zh-TW" altLang="en-US" dirty="0"/>
              <a:t>）是指由無線基地台（</a:t>
            </a:r>
            <a:r>
              <a:rPr lang="en-US" altLang="zh-TW" dirty="0"/>
              <a:t>Access Point</a:t>
            </a:r>
            <a:r>
              <a:rPr lang="zh-TW" altLang="en-US" dirty="0"/>
              <a:t>，簡稱</a:t>
            </a:r>
            <a:r>
              <a:rPr lang="en-US" altLang="zh-TW" dirty="0"/>
              <a:t>AP</a:t>
            </a:r>
            <a:r>
              <a:rPr lang="zh-TW" altLang="en-US" dirty="0"/>
              <a:t>），連結電信服務商的數據機（</a:t>
            </a:r>
            <a:r>
              <a:rPr lang="en-US" altLang="zh-TW" dirty="0"/>
              <a:t>modem</a:t>
            </a:r>
            <a:r>
              <a:rPr lang="zh-TW" altLang="en-US" dirty="0"/>
              <a:t>）發射無線電波信號，再由使用者電腦所裝設的無線網卡來接收信號。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161262E-D4B0-4039-8D72-3D162D292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72" y="2587904"/>
            <a:ext cx="5184576" cy="15991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206496F-3CD7-49E8-9BF3-7A0A64977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008" y="4187091"/>
            <a:ext cx="8028384" cy="251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6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0A3C5E9-4F78-4A91-AFB6-9E88B689E4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/>
              <a:t>13-1-8 </a:t>
            </a:r>
            <a:r>
              <a:rPr lang="zh-TW" altLang="en-US" dirty="0"/>
              <a:t>建立可以連上網際網路的私用</a:t>
            </a:r>
            <a:r>
              <a:rPr lang="en-US" altLang="zh-TW" dirty="0"/>
              <a:t>IP</a:t>
            </a:r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設定完成後，在瀏覽器的網址列中輸入如下所示連線網址，只要是由</a:t>
            </a:r>
            <a:r>
              <a:rPr lang="en-US" altLang="zh-TW" dirty="0"/>
              <a:t>Internet </a:t>
            </a:r>
            <a:r>
              <a:rPr lang="zh-TW" altLang="en-US" dirty="0"/>
              <a:t>連接到寬頻分享器的公用</a:t>
            </a:r>
            <a:r>
              <a:rPr lang="en-US" altLang="zh-TW" dirty="0"/>
              <a:t>IP </a:t>
            </a:r>
            <a:r>
              <a:rPr lang="zh-TW" altLang="en-US" dirty="0"/>
              <a:t>位址，就會被轉遞到</a:t>
            </a:r>
            <a:r>
              <a:rPr lang="en-US" altLang="zh-TW" dirty="0"/>
              <a:t>Ethernet </a:t>
            </a:r>
            <a:r>
              <a:rPr lang="zh-TW" altLang="en-US" dirty="0"/>
              <a:t>模組或</a:t>
            </a:r>
            <a:r>
              <a:rPr lang="en-US" altLang="zh-TW" dirty="0"/>
              <a:t>Wi-Fi </a:t>
            </a:r>
            <a:r>
              <a:rPr lang="zh-TW" altLang="en-US" dirty="0"/>
              <a:t>模組的私用</a:t>
            </a:r>
            <a:r>
              <a:rPr lang="en-US" altLang="zh-TW" dirty="0"/>
              <a:t>IP</a:t>
            </a:r>
            <a:r>
              <a:rPr lang="zh-TW" altLang="en-US" dirty="0"/>
              <a:t>位址。</a:t>
            </a:r>
            <a:endParaRPr lang="en-US" altLang="zh-TW" dirty="0"/>
          </a:p>
          <a:p>
            <a:pPr marL="0" lvl="2" indent="0">
              <a:buNone/>
            </a:pPr>
            <a:endParaRPr lang="en-US" altLang="zh-TW" dirty="0"/>
          </a:p>
          <a:p>
            <a:pPr indent="-457200"/>
            <a:r>
              <a:rPr lang="en-US" altLang="zh-TW" dirty="0"/>
              <a:t>13-1-9 </a:t>
            </a:r>
            <a:r>
              <a:rPr lang="zh-TW" altLang="en-US" dirty="0"/>
              <a:t>取得公用</a:t>
            </a:r>
            <a:r>
              <a:rPr lang="en-US" altLang="zh-TW" dirty="0"/>
              <a:t>IP </a:t>
            </a:r>
            <a:r>
              <a:rPr lang="zh-TW" altLang="en-US" dirty="0"/>
              <a:t>位址</a:t>
            </a:r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只要在瀏覽器中輸入關鍵字 </a:t>
            </a:r>
            <a:r>
              <a:rPr lang="en-US" altLang="zh-TW" b="1" dirty="0" err="1"/>
              <a:t>whatismyip</a:t>
            </a:r>
            <a:r>
              <a:rPr lang="zh-TW" altLang="en-US" dirty="0"/>
              <a:t>，並且點選「我的</a:t>
            </a:r>
            <a:r>
              <a:rPr lang="en-US" altLang="zh-TW" dirty="0"/>
              <a:t>IP </a:t>
            </a:r>
            <a:r>
              <a:rPr lang="zh-TW" altLang="en-US" dirty="0"/>
              <a:t>位址查詢」，即可得知目前所使用的公用</a:t>
            </a:r>
            <a:r>
              <a:rPr lang="en-US" altLang="zh-TW" dirty="0"/>
              <a:t>IP </a:t>
            </a:r>
            <a:r>
              <a:rPr lang="zh-TW" altLang="en-US" dirty="0"/>
              <a:t>位址。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13CEDF-BEF4-430E-9E4E-044BBD237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1340769"/>
            <a:ext cx="2709956" cy="197463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1FE7E2D-5DAA-44C6-A084-331AC4BD8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4264566"/>
            <a:ext cx="4582164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9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3FB54F3-9B09-4936-996F-5F8EBB3A6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809" y="116959"/>
            <a:ext cx="9005777" cy="413790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5124D8-F8CA-6D0A-8928-EDD8A452F8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1364512"/>
            <a:ext cx="8460481" cy="5160832"/>
          </a:xfrm>
        </p:spPr>
        <p:txBody>
          <a:bodyPr/>
          <a:lstStyle/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marL="0" lvl="2" indent="0">
              <a:buNone/>
            </a:pPr>
            <a:r>
              <a:rPr lang="zh-TW" altLang="en-US" dirty="0"/>
              <a:t>如圖</a:t>
            </a:r>
            <a:r>
              <a:rPr lang="en-US" altLang="zh-TW" dirty="0"/>
              <a:t>13-8 </a:t>
            </a:r>
            <a:r>
              <a:rPr lang="zh-TW" altLang="en-US" dirty="0"/>
              <a:t>所示</a:t>
            </a:r>
            <a:r>
              <a:rPr lang="en-US" altLang="zh-TW" dirty="0"/>
              <a:t>TCP / IP </a:t>
            </a:r>
            <a:r>
              <a:rPr lang="zh-TW" altLang="en-US" dirty="0"/>
              <a:t>四層模型，是</a:t>
            </a:r>
            <a:r>
              <a:rPr lang="en-US" altLang="zh-TW" dirty="0"/>
              <a:t>OSI </a:t>
            </a:r>
            <a:r>
              <a:rPr lang="zh-TW" altLang="en-US" dirty="0"/>
              <a:t>七層模型的簡化，分別為鏈結層（</a:t>
            </a:r>
            <a:r>
              <a:rPr lang="en-US" altLang="zh-TW" dirty="0"/>
              <a:t>Link layer</a:t>
            </a:r>
            <a:r>
              <a:rPr lang="zh-TW" altLang="en-US" dirty="0"/>
              <a:t>）、網路層（</a:t>
            </a:r>
            <a:r>
              <a:rPr lang="en-US" altLang="zh-TW" dirty="0"/>
              <a:t>Network Layer</a:t>
            </a:r>
            <a:r>
              <a:rPr lang="zh-TW" altLang="en-US" dirty="0"/>
              <a:t>）、傳輸層（</a:t>
            </a:r>
            <a:r>
              <a:rPr lang="en-US" altLang="zh-TW" dirty="0"/>
              <a:t>Transport Layer</a:t>
            </a:r>
            <a:r>
              <a:rPr lang="zh-TW" altLang="en-US" dirty="0"/>
              <a:t>）和應用層（</a:t>
            </a:r>
            <a:r>
              <a:rPr lang="en-US" altLang="zh-TW" dirty="0"/>
              <a:t>Application Layer</a:t>
            </a:r>
            <a:r>
              <a:rPr lang="zh-TW" altLang="en-US" dirty="0"/>
              <a:t>）。</a:t>
            </a:r>
          </a:p>
          <a:p>
            <a:pPr marL="0" lvl="2" indent="0">
              <a:buNone/>
            </a:pPr>
            <a:r>
              <a:rPr lang="zh-TW" altLang="en-US" dirty="0"/>
              <a:t>鏈結層的功用是定義網路裝置間的傳輸媒體（銅線、紅外線、光纖等）、傳輸速度及傳輸訊號等，並且使用裝置的實體</a:t>
            </a:r>
            <a:r>
              <a:rPr lang="en-US" altLang="zh-TW" dirty="0"/>
              <a:t>MAC </a:t>
            </a:r>
            <a:r>
              <a:rPr lang="zh-TW" altLang="en-US" dirty="0"/>
              <a:t>位址來指定專屬的通訊對象。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4DF6469-0B44-D408-D15F-E0ADD5CA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15" y="764704"/>
            <a:ext cx="2774708" cy="57606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13-2 TCP / IP </a:t>
            </a:r>
            <a:r>
              <a:rPr lang="zh-TW" altLang="en-US" dirty="0"/>
              <a:t>四層模型</a:t>
            </a:r>
          </a:p>
        </p:txBody>
      </p:sp>
    </p:spTree>
    <p:extLst>
      <p:ext uri="{BB962C8B-B14F-4D97-AF65-F5344CB8AC3E}">
        <p14:creationId xmlns:p14="http://schemas.microsoft.com/office/powerpoint/2010/main" val="231539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3AD589-05BE-3853-1D1C-C3C2E7F006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56000" y="741600"/>
            <a:ext cx="8244457" cy="5760000"/>
          </a:xfrm>
        </p:spPr>
        <p:txBody>
          <a:bodyPr/>
          <a:lstStyle/>
          <a:p>
            <a:r>
              <a:rPr lang="en-US" altLang="zh-TW" dirty="0"/>
              <a:t>13-2-1 MAC </a:t>
            </a:r>
            <a:r>
              <a:rPr lang="zh-TW" altLang="en-US" dirty="0"/>
              <a:t>位址</a:t>
            </a:r>
            <a:endParaRPr lang="en-US" altLang="zh-TW" dirty="0"/>
          </a:p>
          <a:p>
            <a:pPr marL="0" lvl="2" indent="0">
              <a:buNone/>
            </a:pPr>
            <a:r>
              <a:rPr lang="en-US" altLang="zh-TW" b="1" dirty="0"/>
              <a:t>MAC </a:t>
            </a:r>
            <a:r>
              <a:rPr lang="zh-TW" altLang="en-US" b="1" dirty="0"/>
              <a:t>位址是實體位址不可以更改</a:t>
            </a:r>
            <a:r>
              <a:rPr lang="zh-TW" altLang="en-US" dirty="0"/>
              <a:t>，且是唯一的號碼，而</a:t>
            </a:r>
            <a:r>
              <a:rPr lang="en-US" altLang="zh-TW" dirty="0"/>
              <a:t>IP</a:t>
            </a:r>
            <a:r>
              <a:rPr lang="zh-TW" altLang="en-US" dirty="0"/>
              <a:t>位址是邏輯位址可以更改，兩者沒有直接的關係。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5E4A9F1-607C-4598-8FEC-383D1F8B3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47" y="2454437"/>
            <a:ext cx="7613730" cy="357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3249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937</Words>
  <Application>Microsoft Office PowerPoint</Application>
  <PresentationFormat>寬螢幕</PresentationFormat>
  <Paragraphs>61</Paragraphs>
  <Slides>13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微軟正黑體</vt:lpstr>
      <vt:lpstr>Arial</vt:lpstr>
      <vt:lpstr>Arial Black</vt:lpstr>
      <vt:lpstr>Calibri</vt:lpstr>
      <vt:lpstr>Calibri Light</vt:lpstr>
      <vt:lpstr>Wingdings</vt:lpstr>
      <vt:lpstr>Office 佈景主題</vt:lpstr>
      <vt:lpstr>Median</vt:lpstr>
      <vt:lpstr>PowerPoint 簡報</vt:lpstr>
      <vt:lpstr>13-1 認識電腦網路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13-2 TCP / IP 四層模型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炳志 林</dc:creator>
  <cp:lastModifiedBy>炳志 林</cp:lastModifiedBy>
  <cp:revision>2</cp:revision>
  <dcterms:created xsi:type="dcterms:W3CDTF">2026-09-16T03:33:14Z</dcterms:created>
  <dcterms:modified xsi:type="dcterms:W3CDTF">2026-10-07T04:19:01Z</dcterms:modified>
</cp:coreProperties>
</file>