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613" r:id="rId13"/>
    <p:sldId id="440" r:id="rId14"/>
    <p:sldId id="614" r:id="rId15"/>
    <p:sldId id="460" r:id="rId16"/>
    <p:sldId id="4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1412" autoAdjust="0"/>
  </p:normalViewPr>
  <p:slideViewPr>
    <p:cSldViewPr>
      <p:cViewPr varScale="1">
        <p:scale>
          <a:sx n="74" d="100"/>
          <a:sy n="74" d="100"/>
        </p:scale>
        <p:origin x="100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C52C4-F338-4189-8337-DA4CC4D94A37}" type="datetimeFigureOut">
              <a:rPr lang="zh-TW" altLang="en-US" smtClean="0"/>
              <a:t>2026/6/7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5212B-3ADC-4B0D-85D6-A4ED77AE6F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7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映像檔其內容就是容器執行應用程式所需的所有檔案，包含</a:t>
            </a:r>
            <a:r>
              <a:rPr lang="en-US" altLang="zh-TW" dirty="0"/>
              <a:t>…</a:t>
            </a:r>
            <a:r>
              <a:rPr lang="zh-TW" altLang="en-US" dirty="0"/>
              <a:t>如上</a:t>
            </a:r>
            <a:endParaRPr lang="en-US" altLang="zh-TW" dirty="0"/>
          </a:p>
          <a:p>
            <a:r>
              <a:rPr lang="zh-TW" altLang="en-US" dirty="0"/>
              <a:t>例：一個完整的 </a:t>
            </a:r>
            <a:r>
              <a:rPr lang="en-US" altLang="zh-TW" dirty="0"/>
              <a:t>MySQL </a:t>
            </a:r>
            <a:r>
              <a:rPr lang="zh-TW" altLang="en-US" dirty="0"/>
              <a:t>資料庫、一個 </a:t>
            </a:r>
            <a:r>
              <a:rPr lang="en-US" altLang="zh-TW" dirty="0"/>
              <a:t>Node.js </a:t>
            </a:r>
            <a:r>
              <a:rPr lang="zh-TW" altLang="en-US" dirty="0"/>
              <a:t>的</a:t>
            </a:r>
            <a:r>
              <a:rPr lang="en-US" altLang="zh-TW" dirty="0"/>
              <a:t>Web </a:t>
            </a:r>
            <a:r>
              <a:rPr lang="zh-TW" altLang="en-US" dirty="0"/>
              <a:t>伺服器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容器就是 </a:t>
            </a:r>
            <a:r>
              <a:rPr lang="en-US" altLang="zh-TW" dirty="0"/>
              <a:t>Docker </a:t>
            </a:r>
            <a:r>
              <a:rPr lang="zh-TW" altLang="en-US" dirty="0"/>
              <a:t>映像檔實際運行的實例，可以將應用程式的執行環境進行封裝（例如：檔案系統與網路設定等），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封裝成一個獨立和可移植的應用程式執行環境，而且，因為每一個容器都是相互隔離，所以 </a:t>
            </a:r>
            <a:r>
              <a:rPr lang="en-US" altLang="zh-TW" dirty="0"/>
              <a:t>Docker </a:t>
            </a:r>
            <a:r>
              <a:rPr lang="zh-TW" altLang="en-US" dirty="0"/>
              <a:t>可以在同一台主機上獨立執行多個不同的容器，而且不會互相干擾。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212B-3ADC-4B0D-85D6-A4ED77AE6F7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374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映像檔其內容就是容器執行應用程式所需的所有檔案，包含程式碼、函式庫、設置檔、環境變數、執行環境和相依性等</a:t>
            </a:r>
            <a:endParaRPr lang="en-US" altLang="zh-TW" dirty="0"/>
          </a:p>
          <a:p>
            <a:r>
              <a:rPr lang="zh-TW" altLang="en-US" dirty="0"/>
              <a:t>例：一個完整的 </a:t>
            </a:r>
            <a:r>
              <a:rPr lang="en-US" altLang="zh-TW" dirty="0"/>
              <a:t>MySQL </a:t>
            </a:r>
            <a:r>
              <a:rPr lang="zh-TW" altLang="en-US" dirty="0"/>
              <a:t>資料庫、一個 </a:t>
            </a:r>
            <a:r>
              <a:rPr lang="en-US" altLang="zh-TW" dirty="0"/>
              <a:t>Node.js </a:t>
            </a:r>
            <a:r>
              <a:rPr lang="zh-TW" altLang="en-US" dirty="0"/>
              <a:t>的</a:t>
            </a:r>
            <a:r>
              <a:rPr lang="en-US" altLang="zh-TW" dirty="0"/>
              <a:t>Web </a:t>
            </a:r>
            <a:r>
              <a:rPr lang="zh-TW" altLang="en-US" dirty="0"/>
              <a:t>伺服器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容器就是 </a:t>
            </a:r>
            <a:r>
              <a:rPr lang="en-US" altLang="zh-TW" dirty="0"/>
              <a:t>Docker </a:t>
            </a:r>
            <a:r>
              <a:rPr lang="zh-TW" altLang="en-US" dirty="0"/>
              <a:t>映像檔實際運行的實例，可以將應用程式的執行環境進行封裝（例如：檔案系統與網路設定等），封裝成一個獨立和可移植的應用程式執行環境，而且，因為每一個容器都是相互隔離，所以 </a:t>
            </a:r>
            <a:r>
              <a:rPr lang="en-US" altLang="zh-TW" dirty="0"/>
              <a:t>Docker </a:t>
            </a:r>
            <a:r>
              <a:rPr lang="zh-TW" altLang="en-US" dirty="0"/>
              <a:t>可以在同一台主機上獨立執行多個不同的容器，而且不會互相干擾。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9F31E4-1C1D-4260-8F1E-8A5499DA19CD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845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Run = start</a:t>
            </a:r>
            <a:r>
              <a:rPr lang="zh-TW" altLang="en-US" dirty="0"/>
              <a:t>都是到啟動狀態</a:t>
            </a:r>
            <a:endParaRPr lang="en-US" altLang="zh-TW" dirty="0"/>
          </a:p>
          <a:p>
            <a:r>
              <a:rPr lang="zh-TW" altLang="en-US" dirty="0"/>
              <a:t>停止是不佔系統資源</a:t>
            </a:r>
            <a:r>
              <a:rPr lang="en-US" altLang="zh-TW" dirty="0"/>
              <a:t>(</a:t>
            </a:r>
            <a:r>
              <a:rPr lang="zh-TW" altLang="en-US" dirty="0"/>
              <a:t>例</a:t>
            </a:r>
            <a:r>
              <a:rPr lang="en-US" altLang="zh-TW" dirty="0"/>
              <a:t>ram)</a:t>
            </a:r>
            <a:r>
              <a:rPr lang="zh-TW" altLang="en-US" dirty="0"/>
              <a:t>，暫停仍佔用</a:t>
            </a:r>
            <a:r>
              <a:rPr lang="en-US" altLang="zh-TW" dirty="0"/>
              <a:t>ram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9F31E4-1C1D-4260-8F1E-8A5499DA19CD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092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../slides/slide8.xml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79">
            <a:extLst>
              <a:ext uri="{FF2B5EF4-FFF2-40B4-BE49-F238E27FC236}">
                <a16:creationId xmlns:a16="http://schemas.microsoft.com/office/drawing/2014/main" id="{F01A7D1E-B8D4-BEAB-B913-E3494548703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2462933" y="8741833"/>
            <a:ext cx="3793067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latinLnBrk="1" hangingPunct="1">
              <a:defRPr/>
            </a:pPr>
            <a:fld id="{A3458B4F-1027-4A47-863C-A1C7E8CD6EC9}" type="slidenum">
              <a:rPr kumimoji="0" lang="en-US" altLang="ko-KR" sz="1600" b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pPr algn="r" eaLnBrk="1" latinLnBrk="1" hangingPunct="1">
                <a:defRPr/>
              </a:pPr>
              <a:t>‹#›</a:t>
            </a:fld>
            <a:endParaRPr kumimoji="0" lang="en-US" altLang="ko-KR" sz="1600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Picture 3" descr="C:\Users\axel\Desktop\Drmaster\pic\WebIcons1_by_KenSaunders\PNG_128x128\Back.png">
            <a:hlinkClick r:id="" action="ppaction://hlinkshowjump?jump=previousslide" tooltip="前一頁"/>
            <a:extLst>
              <a:ext uri="{FF2B5EF4-FFF2-40B4-BE49-F238E27FC236}">
                <a16:creationId xmlns:a16="http://schemas.microsoft.com/office/drawing/2014/main" id="{C3BEE09E-0472-D3FD-6847-506C7A5ED3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6178" y="857251"/>
            <a:ext cx="510823" cy="38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 descr="C:\Users\axel\Desktop\Drmaster\pic\WebIcons1_by_KenSaunders\PNG_128x128\Forward.png">
            <a:hlinkClick r:id="" action="ppaction://hlinkshowjump?jump=nextslide" tooltip="下一頁"/>
            <a:extLst>
              <a:ext uri="{FF2B5EF4-FFF2-40B4-BE49-F238E27FC236}">
                <a16:creationId xmlns:a16="http://schemas.microsoft.com/office/drawing/2014/main" id="{2A1D61BA-9BBF-60F1-FE8B-DA1B9BBA1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4178" y="857251"/>
            <a:ext cx="510823" cy="38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9" descr="C:\Users\axel\Desktop\Drmaster\pic\WebIcons1_by_KenSaunders\PNG_128x128\Home.png">
            <a:hlinkClick r:id="rId4" action="ppaction://hlinksldjump" tooltip="回大綱"/>
            <a:extLst>
              <a:ext uri="{FF2B5EF4-FFF2-40B4-BE49-F238E27FC236}">
                <a16:creationId xmlns:a16="http://schemas.microsoft.com/office/drawing/2014/main" id="{A2649E8A-3AE7-1457-6BB0-BD49D57C7A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8178" y="857251"/>
            <a:ext cx="510823" cy="38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C:\Users\axel\Desktop\Drmaster\pic\WebIcons1_by_KenSaunders\PNG_128x128\Info.png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E5EE43D-7A94-7E6C-8D0D-F5F093FBB3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0178" y="857251"/>
            <a:ext cx="510823" cy="38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7946" y="1523979"/>
            <a:ext cx="15367108" cy="7239051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7"/>
              </a:buBlip>
              <a:defRPr sz="4267">
                <a:solidFill>
                  <a:srgbClr val="339933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buFontTx/>
              <a:buBlip>
                <a:blip r:embed="rId8"/>
              </a:buBlip>
              <a:defRPr>
                <a:solidFill>
                  <a:srgbClr val="0070C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buFontTx/>
              <a:buBlip>
                <a:blip r:embed="rId9"/>
              </a:buBlip>
              <a:defRPr sz="32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buFontTx/>
              <a:buBlip>
                <a:blip r:embed="rId9"/>
              </a:buBlip>
              <a:defRPr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buFontTx/>
              <a:buBlip>
                <a:blip r:embed="rId9"/>
              </a:buBlip>
              <a:defRPr sz="2133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1120" y="347531"/>
            <a:ext cx="13651922" cy="1021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4800" b="0">
                <a:solidFill>
                  <a:srgbClr val="FFFF00"/>
                </a:solidFill>
                <a:effectLst/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</a:lstStyle>
          <a:p>
            <a:pPr lvl="0"/>
            <a:r>
              <a:rPr lang="zh-TW" altLang="en-US" dirty="0"/>
              <a:t>按一下以編輯母片標題樣式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955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3" name="內容版面配置區 4">
            <a:extLst>
              <a:ext uri="{FF2B5EF4-FFF2-40B4-BE49-F238E27FC236}">
                <a16:creationId xmlns:a16="http://schemas.microsoft.com/office/drawing/2014/main" id="{188AFDF2-8C0D-D831-74C1-6BB0782795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933" y="1595967"/>
            <a:ext cx="11819467" cy="4895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19" name="內容版面配置區 2">
            <a:extLst>
              <a:ext uri="{FF2B5EF4-FFF2-40B4-BE49-F238E27FC236}">
                <a16:creationId xmlns:a16="http://schemas.microsoft.com/office/drawing/2014/main" id="{3026141E-9E75-61FE-5C83-EAD17FE40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151" y="1369485"/>
            <a:ext cx="9023349" cy="75141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4ACBF13-E272-35E4-B538-51C0222B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15" name="內容版面配置區 2">
            <a:extLst>
              <a:ext uri="{FF2B5EF4-FFF2-40B4-BE49-F238E27FC236}">
                <a16:creationId xmlns:a16="http://schemas.microsoft.com/office/drawing/2014/main" id="{7AAF3389-289B-1183-49B6-9BF17404D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1" y="2698751"/>
            <a:ext cx="10335683" cy="46079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42B7716-986D-0C18-9E76-E7FD666D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107" name="內容版面配置區 2">
            <a:extLst>
              <a:ext uri="{FF2B5EF4-FFF2-40B4-BE49-F238E27FC236}">
                <a16:creationId xmlns:a16="http://schemas.microsoft.com/office/drawing/2014/main" id="{9C84BDE8-DBF5-97B5-242A-2C9A573B1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934" y="1691218"/>
            <a:ext cx="11497733" cy="65299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03EBCE7-1063-3ACE-1C6D-F84FE28B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標題 1">
            <a:extLst>
              <a:ext uri="{FF2B5EF4-FFF2-40B4-BE49-F238E27FC236}">
                <a16:creationId xmlns:a16="http://schemas.microsoft.com/office/drawing/2014/main" id="{390AF68D-92D9-5724-D96C-81B7BD53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934" y="347134"/>
            <a:ext cx="10238317" cy="102235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TW" altLang="en-US">
                <a:ea typeface="新細明體" panose="02020500000000000000" pitchFamily="18" charset="-120"/>
              </a:rPr>
              <a:t>容器與宿主作業系統之間的網路環境</a:t>
            </a:r>
          </a:p>
        </p:txBody>
      </p:sp>
      <p:pic>
        <p:nvPicPr>
          <p:cNvPr id="313347" name="內容版面配置區 2">
            <a:extLst>
              <a:ext uri="{FF2B5EF4-FFF2-40B4-BE49-F238E27FC236}">
                <a16:creationId xmlns:a16="http://schemas.microsoft.com/office/drawing/2014/main" id="{FB55966F-DF85-B470-7F19-C86849730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901" y="0"/>
            <a:ext cx="12171100" cy="914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260</Words>
  <Application>Microsoft Office PowerPoint</Application>
  <PresentationFormat>自訂</PresentationFormat>
  <Paragraphs>13</Paragraphs>
  <Slides>16</Slides>
  <Notes>3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新細明體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容器與宿主作業系統之間的網路環境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炳志 林</cp:lastModifiedBy>
  <cp:revision>3</cp:revision>
  <dcterms:created xsi:type="dcterms:W3CDTF">2006-08-16T00:00:00Z</dcterms:created>
  <dcterms:modified xsi:type="dcterms:W3CDTF">2026-06-07T14:08:44Z</dcterms:modified>
</cp:coreProperties>
</file>