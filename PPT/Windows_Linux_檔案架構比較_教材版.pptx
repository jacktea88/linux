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3716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Noto Sans TC"/>
              </a:rPr>
              <a:t>Windows 與 Linux 的系統架構比較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594360"/>
            <a:ext cx="11521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0">
                <a:solidFill>
                  <a:srgbClr val="475569"/>
                </a:solidFill>
                <a:latin typeface="Noto Sans TC"/>
              </a:rPr>
              <a:t>從硬體資源到核心與應用層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005840"/>
            <a:ext cx="25603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Noto Sans TC"/>
              </a:rPr>
              <a:t>電腦硬體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54680" y="1005840"/>
            <a:ext cx="32918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Noto Sans TC"/>
              </a:rPr>
              <a:t>作業系統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20840" y="1005840"/>
            <a:ext cx="5029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000" b="1">
                <a:solidFill>
                  <a:srgbClr val="111827"/>
                </a:solidFill>
                <a:latin typeface="Noto Sans TC"/>
              </a:rPr>
              <a:t>系統分層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54480"/>
            <a:ext cx="2194560" cy="82296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111827"/>
                </a:solidFill>
                <a:latin typeface="Noto Sans TC"/>
              </a:rPr>
              <a:t>CPU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560320"/>
            <a:ext cx="2194560" cy="82296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111827"/>
                </a:solidFill>
                <a:latin typeface="Noto Sans TC"/>
              </a:rPr>
              <a:t>RAM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3566160"/>
            <a:ext cx="2194560" cy="82296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111827"/>
                </a:solidFill>
                <a:latin typeface="Noto Sans TC"/>
              </a:rPr>
              <a:t>HDD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1554480"/>
            <a:ext cx="2926080" cy="1280160"/>
          </a:xfrm>
          <a:prstGeom prst="roundRect">
            <a:avLst/>
          </a:prstGeom>
          <a:solidFill>
            <a:srgbClr val="ECFEFF"/>
          </a:solidFill>
          <a:ln w="228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111827"/>
                </a:solidFill>
                <a:latin typeface="Noto Sans TC"/>
              </a:rPr>
              <a:t>Windows
C: / D: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46120" y="3063240"/>
            <a:ext cx="2926080" cy="1645920"/>
          </a:xfrm>
          <a:prstGeom prst="roundRect">
            <a:avLst/>
          </a:prstGeom>
          <a:solidFill>
            <a:srgbClr val="F0FDF4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111827"/>
                </a:solidFill>
                <a:latin typeface="Noto Sans TC"/>
              </a:rPr>
              <a:t>Linux
/  /home  /etc  /var  ...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03720" y="1554480"/>
            <a:ext cx="4754880" cy="109728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111827"/>
                </a:solidFill>
                <a:latin typeface="Noto Sans TC"/>
              </a:rPr>
              <a:t>Applications
Server Apps / X-Window Apps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03720" y="2743200"/>
            <a:ext cx="4754880" cy="73152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111827"/>
                </a:solidFill>
                <a:latin typeface="Noto Sans TC"/>
              </a:rPr>
              <a:t>OS Utilities / Applications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03720" y="3566160"/>
            <a:ext cx="4754880" cy="73152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111827"/>
                </a:solidFill>
                <a:latin typeface="Noto Sans TC"/>
              </a:rPr>
              <a:t>Kernel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903720" y="4389120"/>
            <a:ext cx="4754880" cy="73152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111827"/>
                </a:solidFill>
                <a:latin typeface="Noto Sans TC"/>
              </a:rPr>
              <a:t>Hardware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355080" y="1920240"/>
            <a:ext cx="457200" cy="320040"/>
          </a:xfrm>
          <a:prstGeom prst="rightArrow">
            <a:avLst/>
          </a:prstGeom>
          <a:solidFill>
            <a:srgbClr val="06B6D4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ight Arrow 16"/>
          <p:cNvSpPr/>
          <p:nvPr/>
        </p:nvSpPr>
        <p:spPr>
          <a:xfrm>
            <a:off x="6355080" y="3246120"/>
            <a:ext cx="457200" cy="320040"/>
          </a:xfrm>
          <a:prstGeom prst="rightArrow">
            <a:avLst/>
          </a:prstGeom>
          <a:solidFill>
            <a:srgbClr val="06B6D4"/>
          </a:solidFill>
          <a:ln w="1524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" name="Connector 17"/>
          <p:cNvCxnSpPr/>
          <p:nvPr/>
        </p:nvCxnSpPr>
        <p:spPr>
          <a:xfrm>
            <a:off x="2697480" y="1965960"/>
            <a:ext cx="548640" cy="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697480" y="2148840"/>
            <a:ext cx="548640" cy="82296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697480" y="3840480"/>
            <a:ext cx="548640" cy="137159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697480" y="1965960"/>
            <a:ext cx="548640" cy="187452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697480" y="2971800"/>
            <a:ext cx="548640" cy="868680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697480" y="3840480"/>
            <a:ext cx="548640" cy="137159"/>
          </a:xfrm>
          <a:prstGeom prst="line">
            <a:avLst/>
          </a:prstGeom>
          <a:ln w="19050">
            <a:solidFill>
              <a:srgbClr val="06B6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474720" y="4892040"/>
            <a:ext cx="28346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0">
                <a:solidFill>
                  <a:srgbClr val="15803D"/>
                </a:solidFill>
                <a:latin typeface="Noto Sans TC"/>
              </a:rPr>
              <a:t>符合 FHS 標準規範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4526280" y="4572000"/>
            <a:ext cx="182880" cy="182880"/>
          </a:xfrm>
          <a:prstGeom prst="line">
            <a:avLst/>
          </a:prstGeom>
          <a:ln w="16510">
            <a:solidFill>
              <a:srgbClr val="16A34A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57200" y="5943600"/>
            <a:ext cx="11247120" cy="411480"/>
          </a:xfrm>
          <a:prstGeom prst="rect">
            <a:avLst/>
          </a:prstGeom>
          <a:noFill/>
        </p:spPr>
        <p:txBody>
          <a:bodyPr wrap="none" lIns="45720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Noto Sans TC"/>
              </a:rPr>
              <a:t>重點：Linux 使用單一目錄樹管理資源，並常遵循 FHS，方便維護與部署。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400" b="1">
                <a:solidFill>
                  <a:srgbClr val="0F172A"/>
                </a:solidFill>
                <a:latin typeface="Noto Sans TC"/>
              </a:rPr>
              <a:t>Linux FHS 目錄結構詳解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521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Noto Sans TC"/>
              </a:rPr>
              <a:t>Filesystem Hierarchy Standard：讓系統結構一致、可維護、可移植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2743200" cy="4480560"/>
          </a:xfrm>
          <a:prstGeom prst="roundRect">
            <a:avLst/>
          </a:prstGeom>
          <a:solidFill>
            <a:srgbClr val="F0FDF4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800">
                <a:solidFill>
                  <a:srgbClr val="111827"/>
                </a:solidFill>
                <a:latin typeface="Noto Sans TC"/>
              </a:rPr>
              <a:t>/
|-- /bin
|-- /etc
|-- /home
|-- /usr
|-- /var
`-- /tmp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11880" y="1143000"/>
            <a:ext cx="8046720" cy="86868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111827"/>
                </a:solidFill>
                <a:latin typeface="Noto Sans TC"/>
              </a:rPr>
              <a:t>/bin：基本使用者命令（如 ls、cp、cat）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11880" y="2103120"/>
            <a:ext cx="8046720" cy="86868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111827"/>
                </a:solidFill>
                <a:latin typeface="Noto Sans TC"/>
              </a:rPr>
              <a:t>/etc：系統與服務設定檔（如 sshd_config）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11880" y="3063240"/>
            <a:ext cx="8046720" cy="86868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111827"/>
                </a:solidFill>
                <a:latin typeface="Noto Sans TC"/>
              </a:rPr>
              <a:t>/home：一般使用者家目錄與個人檔案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11880" y="4023360"/>
            <a:ext cx="8046720" cy="86868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111827"/>
                </a:solidFill>
                <a:latin typeface="Noto Sans TC"/>
              </a:rPr>
              <a:t>/usr：應用程式與共享資源（多數套件安裝位置）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4983480"/>
            <a:ext cx="8046720" cy="86868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111827"/>
                </a:solidFill>
                <a:latin typeface="Noto Sans TC"/>
              </a:rPr>
              <a:t>/var：變動資料（log、cache、spool）；/tmp：暫存檔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9893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Noto Sans TC"/>
              </a:rPr>
              <a:t>教學重點：找設定先看 /etc，找日誌先看 /var/log，找使用者檔案看 /home。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521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Noto Sans TC"/>
              </a:rPr>
              <a:t>授課節奏與動畫順序（90 秒）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58368"/>
            <a:ext cx="11521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600" b="0">
                <a:solidFill>
                  <a:srgbClr val="475569"/>
                </a:solidFill>
                <a:latin typeface="Noto Sans TC"/>
              </a:rPr>
              <a:t>建議先講架構，再帶 FHS，最後用三句口訣收斂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143000"/>
            <a:ext cx="5577840" cy="4160520"/>
          </a:xfrm>
          <a:prstGeom prst="roundRect">
            <a:avLst/>
          </a:prstGeom>
          <a:solidFill>
            <a:srgbClr val="ECFEFF"/>
          </a:solidFill>
          <a:ln w="2286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111827"/>
                </a:solidFill>
                <a:latin typeface="Noto Sans TC"/>
              </a:rPr>
              <a:t>動畫順序
1) 標題與副標淡入（0-8s）
2) 硬體區塊依序出現（8-20s）
3) Windows / Linux 方塊出現（20-35s）
4) 流向箭頭補齊（35-55s）
5) 右側分層由下往上（55-75s）
6) FHS 註解出現收尾（75-90s）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303520" cy="4160520"/>
          </a:xfrm>
          <a:prstGeom prst="roundRect">
            <a:avLst/>
          </a:prstGeom>
          <a:solidFill>
            <a:srgbClr val="F0FDF4"/>
          </a:solidFill>
          <a:ln w="2286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1600">
                <a:solidFill>
                  <a:srgbClr val="111827"/>
                </a:solidFill>
                <a:latin typeface="Noto Sans TC"/>
              </a:rPr>
              <a:t>90 秒口白提要
同一台硬體可由不同作業系統管理。
Windows 常用磁碟代號；Linux 使用單一目錄樹。
Kernel 位於中間，負責軟硬體溝通。
Linux 常遵循 FHS，因此部署與維護更一致。
口訣：找設定看 /etc，找日誌看 /var/log，
找使用者檔案看 /home。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5321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1E293B"/>
                </a:solidFill>
                <a:latin typeface="Noto Sans TC"/>
              </a:rPr>
              <a:t>授課技巧：每個步驟只停留一個重點，搭配滑鼠圈選關鍵詞，學生理解率會更高。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